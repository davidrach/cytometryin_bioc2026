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9.png" ContentType="image/png"/>
  <Override PartName="/ppt/media/image24.jpeg" ContentType="image/jpeg"/>
  <Override PartName="/ppt/media/image20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17.png" ContentType="image/png"/>
  <Override PartName="/ppt/media/image8.png" ContentType="image/png"/>
  <Override PartName="/ppt/media/image18.png" ContentType="image/png"/>
  <Override PartName="/ppt/media/image9.png" ContentType="image/png"/>
  <Override PartName="/ppt/media/image10.png" ContentType="image/png"/>
  <Override PartName="/ppt/media/image34.svg" ContentType="image/svg"/>
  <Override PartName="/ppt/media/image13.png" ContentType="image/png"/>
  <Override PartName="/ppt/media/image30.png" ContentType="image/png"/>
  <Override PartName="/ppt/media/image32.svg" ContentType="image/svg"/>
  <Override PartName="/ppt/media/image35.png" ContentType="image/png"/>
  <Override PartName="/ppt/media/image3.png" ContentType="image/png"/>
  <Override PartName="/ppt/media/image31.png" ContentType="image/png"/>
  <Override PartName="/ppt/media/image40.svg" ContentType="image/svg"/>
  <Override PartName="/ppt/media/image1.png" ContentType="image/png"/>
  <Override PartName="/ppt/media/image33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38.svg" ContentType="image/svg"/>
  <Override PartName="/ppt/media/image14.png" ContentType="image/png"/>
  <Override PartName="/ppt/media/image11.png" ContentType="image/png"/>
  <Override PartName="/ppt/media/image2.png" ContentType="image/png"/>
  <Override PartName="/ppt/media/image39.png" ContentType="image/png"/>
  <Override PartName="/ppt/media/image7.png" ContentType="image/png"/>
  <Override PartName="/ppt/media/image16.png" ContentType="image/png"/>
  <Override PartName="/ppt/media/image12.png" ContentType="image/png"/>
  <Override PartName="/ppt/media/image4.svg" ContentType="image/svg"/>
  <Override PartName="/ppt/media/image36.svg" ContentType="image/svg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notesSlides/_rels/notesSlide19.xml.rels" ContentType="application/vnd.openxmlformats-package.relationships+xml"/>
  <Override PartName="/ppt/notesSlides/notesSlide1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1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1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1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49F232B-DBC4-41B8-87F9-542E9CD3FF59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31800" cy="339336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5760" cy="39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16"/>
          </p:nvPr>
        </p:nvSpPr>
        <p:spPr>
          <a:xfrm>
            <a:off x="4402080" y="9553680"/>
            <a:ext cx="3367800" cy="50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E51BEA-6AF5-4F65-9B54-F84F255DC492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127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6560" cy="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27120" y="1604520"/>
            <a:ext cx="16560" cy="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9560"/>
            <a:ext cx="16560" cy="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27120" y="1609560"/>
            <a:ext cx="16560" cy="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711C1C-1B75-4CEA-8A47-614A925553E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272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140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140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140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140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C6383F-762F-4595-9165-83144BB72CF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272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016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016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016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016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016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0160" cy="18939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8C5CDA-8E23-41A6-807C-085DA5D950C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2-obj-Title-and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127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6560" cy="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627120" y="1604520"/>
            <a:ext cx="16560" cy="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609480" y="1609560"/>
            <a:ext cx="16560" cy="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27120" y="1609560"/>
            <a:ext cx="16560" cy="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52E9DC1-B4E8-4204-ACA2-B7DABA38935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2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4200" cy="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ird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utl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4200" cy="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Outline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4200" cy="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ird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utl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4200" cy="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66C414-46E0-4EEC-A70E-D7E77D546DB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27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4200" cy="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4200" cy="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4200" cy="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4200" cy="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9A42DD-EE9D-4EBE-B0B0-F81801F601A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4.jpe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2.png"/><Relationship Id="rId7" Type="http://schemas.openxmlformats.org/officeDocument/2006/relationships/image" Target="../media/image31.png"/><Relationship Id="rId8" Type="http://schemas.openxmlformats.org/officeDocument/2006/relationships/image" Target="../media/image32.svg"/><Relationship Id="rId9" Type="http://schemas.openxmlformats.org/officeDocument/2006/relationships/image" Target="../media/image33.png"/><Relationship Id="rId10" Type="http://schemas.openxmlformats.org/officeDocument/2006/relationships/image" Target="../media/image34.svg"/><Relationship Id="rId11" Type="http://schemas.openxmlformats.org/officeDocument/2006/relationships/image" Target="../media/image35.png"/><Relationship Id="rId12" Type="http://schemas.openxmlformats.org/officeDocument/2006/relationships/image" Target="../media/image36.svg"/><Relationship Id="rId13" Type="http://schemas.openxmlformats.org/officeDocument/2006/relationships/image" Target="../media/image37.png"/><Relationship Id="rId14" Type="http://schemas.openxmlformats.org/officeDocument/2006/relationships/image" Target="../media/image38.svg"/><Relationship Id="rId15" Type="http://schemas.openxmlformats.org/officeDocument/2006/relationships/image" Target="../media/image39.png"/><Relationship Id="rId16" Type="http://schemas.openxmlformats.org/officeDocument/2006/relationships/image" Target="../media/image40.svg"/><Relationship Id="rId17" Type="http://schemas.openxmlformats.org/officeDocument/2006/relationships/image" Target="../media/image3.png"/><Relationship Id="rId18" Type="http://schemas.openxmlformats.org/officeDocument/2006/relationships/image" Target="../media/image4.svg"/><Relationship Id="rId19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917280" y="806400"/>
            <a:ext cx="1051272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 with </a:t>
            </a:r>
            <a:br>
              <a:rPr sz="2600"/>
            </a:b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no-to-little coding experience</a:t>
            </a:r>
            <a:br>
              <a:rPr sz="2400"/>
            </a:b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916920" y="4800600"/>
            <a:ext cx="9598680" cy="3883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Natarajan Ayinathan, Xiaoxuan Fan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August 10, 2026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Box 2"/>
          <p:cNvSpPr/>
          <p:nvPr/>
        </p:nvSpPr>
        <p:spPr>
          <a:xfrm>
            <a:off x="122760" y="6332400"/>
            <a:ext cx="2105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Picture 4" descr=""/>
          <p:cNvPicPr/>
          <p:nvPr/>
        </p:nvPicPr>
        <p:blipFill>
          <a:blip r:embed="rId2"/>
          <a:stretch/>
        </p:blipFill>
        <p:spPr>
          <a:xfrm>
            <a:off x="4195440" y="1933560"/>
            <a:ext cx="3576960" cy="263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40840" y="5203440"/>
            <a:ext cx="1359360" cy="119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PlaceHolder 4"/>
          <p:cNvSpPr txBox="1"/>
          <p:nvPr/>
        </p:nvSpPr>
        <p:spPr>
          <a:xfrm>
            <a:off x="-146160" y="6521400"/>
            <a:ext cx="1553760" cy="1050840"/>
          </a:xfrm>
          <a:prstGeom prst="rect">
            <a:avLst/>
          </a:prstGeom>
          <a:noFill/>
          <a:ln w="19080">
            <a:noFill/>
          </a:ln>
        </p:spPr>
        <p:txBody>
          <a:bodyPr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3280" cy="639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 Cytometry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Rectangle 50"/>
          <p:cNvSpPr/>
          <p:nvPr/>
        </p:nvSpPr>
        <p:spPr>
          <a:xfrm>
            <a:off x="748800" y="1167480"/>
            <a:ext cx="509940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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 Cytometry and Bioconductor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Rectangle 56"/>
          <p:cNvSpPr/>
          <p:nvPr/>
        </p:nvSpPr>
        <p:spPr>
          <a:xfrm>
            <a:off x="5943600" y="617328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Rectangle 57"/>
          <p:cNvSpPr/>
          <p:nvPr/>
        </p:nvSpPr>
        <p:spPr>
          <a:xfrm>
            <a:off x="7315200" y="61722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Picture 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" descr=""/>
          <p:cNvPicPr/>
          <p:nvPr/>
        </p:nvPicPr>
        <p:blipFill>
          <a:blip r:embed="rId2"/>
          <a:stretch/>
        </p:blipFill>
        <p:spPr>
          <a:xfrm>
            <a:off x="5943600" y="1371600"/>
            <a:ext cx="5908680" cy="395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" descr=""/>
          <p:cNvPicPr/>
          <p:nvPr/>
        </p:nvPicPr>
        <p:blipFill>
          <a:blip r:embed="rId3"/>
          <a:srcRect l="0" t="-1912" r="0" b="0"/>
          <a:stretch/>
        </p:blipFill>
        <p:spPr>
          <a:xfrm>
            <a:off x="685800" y="685800"/>
            <a:ext cx="5029200" cy="5715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Lack of wider community adoption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ectangle 1"/>
          <p:cNvSpPr/>
          <p:nvPr/>
        </p:nvSpPr>
        <p:spPr>
          <a:xfrm>
            <a:off x="7772400" y="640080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8056440" y="64008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" name="" descr=""/>
          <p:cNvPicPr/>
          <p:nvPr/>
        </p:nvPicPr>
        <p:blipFill>
          <a:blip r:embed="rId2"/>
          <a:stretch/>
        </p:blipFill>
        <p:spPr>
          <a:xfrm>
            <a:off x="6771600" y="914400"/>
            <a:ext cx="4887000" cy="504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Emergence of Spectral Flow Cytometry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3"/>
          <p:cNvSpPr/>
          <p:nvPr/>
        </p:nvSpPr>
        <p:spPr>
          <a:xfrm>
            <a:off x="488880" y="166284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4"/>
          <p:cNvSpPr/>
          <p:nvPr/>
        </p:nvSpPr>
        <p:spPr>
          <a:xfrm>
            <a:off x="457200" y="365868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Picture 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" descr=""/>
          <p:cNvPicPr/>
          <p:nvPr/>
        </p:nvPicPr>
        <p:blipFill>
          <a:blip r:embed="rId2"/>
          <a:stretch/>
        </p:blipFill>
        <p:spPr>
          <a:xfrm>
            <a:off x="4449240" y="1140120"/>
            <a:ext cx="7437960" cy="4604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Datasets, Combinatorially Exponential Clusters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Picture 30" descr=""/>
          <p:cNvPicPr/>
          <p:nvPr/>
        </p:nvPicPr>
        <p:blipFill>
          <a:blip r:embed="rId1"/>
          <a:stretch/>
        </p:blipFill>
        <p:spPr>
          <a:xfrm>
            <a:off x="6629400" y="960840"/>
            <a:ext cx="5026320" cy="447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Rectangle 38"/>
          <p:cNvSpPr/>
          <p:nvPr/>
        </p:nvSpPr>
        <p:spPr>
          <a:xfrm>
            <a:off x="596880" y="902880"/>
            <a:ext cx="5498280" cy="99108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- 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-  And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39"/>
          <p:cNvSpPr/>
          <p:nvPr/>
        </p:nvSpPr>
        <p:spPr>
          <a:xfrm>
            <a:off x="518400" y="4798440"/>
            <a:ext cx="59720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9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-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40"/>
          <p:cNvSpPr/>
          <p:nvPr/>
        </p:nvSpPr>
        <p:spPr>
          <a:xfrm>
            <a:off x="518400" y="4682520"/>
            <a:ext cx="7827120" cy="10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0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-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.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+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8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(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Picture 3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Lack of beginner friendly resources a major barrier to entry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7"/>
          <p:cNvSpPr/>
          <p:nvPr/>
        </p:nvSpPr>
        <p:spPr>
          <a:xfrm>
            <a:off x="6327720" y="150696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8"/>
          <p:cNvSpPr/>
          <p:nvPr/>
        </p:nvSpPr>
        <p:spPr>
          <a:xfrm>
            <a:off x="6296040" y="35028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1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Announced plans for the class in November 2025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8686800" y="617328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772400" y="64008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Picture 1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" descr=""/>
          <p:cNvPicPr/>
          <p:nvPr/>
        </p:nvPicPr>
        <p:blipFill>
          <a:blip r:embed="rId2"/>
          <a:stretch/>
        </p:blipFill>
        <p:spPr>
          <a:xfrm>
            <a:off x="260640" y="1081800"/>
            <a:ext cx="6825960" cy="151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 descr=""/>
          <p:cNvPicPr/>
          <p:nvPr/>
        </p:nvPicPr>
        <p:blipFill>
          <a:blip r:embed="rId3"/>
          <a:stretch/>
        </p:blipFill>
        <p:spPr>
          <a:xfrm>
            <a:off x="243720" y="2774160"/>
            <a:ext cx="6842880" cy="4022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Overall structure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11"/>
          <p:cNvSpPr/>
          <p:nvPr/>
        </p:nvSpPr>
        <p:spPr>
          <a:xfrm>
            <a:off x="3856680" y="594468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12"/>
          <p:cNvSpPr/>
          <p:nvPr/>
        </p:nvSpPr>
        <p:spPr>
          <a:xfrm>
            <a:off x="5770440" y="59436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Picture 1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" descr=""/>
          <p:cNvPicPr/>
          <p:nvPr/>
        </p:nvPicPr>
        <p:blipFill>
          <a:blip r:embed="rId2"/>
          <a:stretch/>
        </p:blipFill>
        <p:spPr>
          <a:xfrm>
            <a:off x="0" y="895320"/>
            <a:ext cx="12191760" cy="344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" descr=""/>
          <p:cNvPicPr/>
          <p:nvPr/>
        </p:nvPicPr>
        <p:blipFill>
          <a:blip r:embed="rId1"/>
          <a:stretch/>
        </p:blipFill>
        <p:spPr>
          <a:xfrm>
            <a:off x="228600" y="457200"/>
            <a:ext cx="6172200" cy="59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13"/>
          <p:cNvSpPr/>
          <p:nvPr/>
        </p:nvSpPr>
        <p:spPr>
          <a:xfrm>
            <a:off x="6327720" y="150696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14"/>
          <p:cNvSpPr/>
          <p:nvPr/>
        </p:nvSpPr>
        <p:spPr>
          <a:xfrm>
            <a:off x="6296040" y="35028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Picture 1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ectangle 15"/>
          <p:cNvSpPr/>
          <p:nvPr/>
        </p:nvSpPr>
        <p:spPr>
          <a:xfrm>
            <a:off x="495720" y="150696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16"/>
          <p:cNvSpPr/>
          <p:nvPr/>
        </p:nvSpPr>
        <p:spPr>
          <a:xfrm>
            <a:off x="464040" y="35028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Picture 14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6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403960" cy="442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17"/>
          <p:cNvSpPr/>
          <p:nvPr/>
        </p:nvSpPr>
        <p:spPr>
          <a:xfrm>
            <a:off x="6828480" y="137268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18"/>
          <p:cNvSpPr/>
          <p:nvPr/>
        </p:nvSpPr>
        <p:spPr>
          <a:xfrm>
            <a:off x="6858000" y="343008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1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7280" cy="481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19"/>
          <p:cNvSpPr/>
          <p:nvPr/>
        </p:nvSpPr>
        <p:spPr>
          <a:xfrm>
            <a:off x="488880" y="182880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20"/>
          <p:cNvSpPr/>
          <p:nvPr/>
        </p:nvSpPr>
        <p:spPr>
          <a:xfrm>
            <a:off x="457200" y="382464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Picture 1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" descr=""/>
          <p:cNvPicPr/>
          <p:nvPr/>
        </p:nvPicPr>
        <p:blipFill>
          <a:blip r:embed="rId2"/>
          <a:stretch/>
        </p:blipFill>
        <p:spPr>
          <a:xfrm>
            <a:off x="5362920" y="685800"/>
            <a:ext cx="6067080" cy="5241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How has it been going?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ectangle 21"/>
          <p:cNvSpPr/>
          <p:nvPr/>
        </p:nvSpPr>
        <p:spPr>
          <a:xfrm>
            <a:off x="6327720" y="150696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ectangle 22"/>
          <p:cNvSpPr/>
          <p:nvPr/>
        </p:nvSpPr>
        <p:spPr>
          <a:xfrm>
            <a:off x="6296040" y="35028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Picture 1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" descr=""/>
          <p:cNvPicPr/>
          <p:nvPr/>
        </p:nvPicPr>
        <p:blipFill>
          <a:blip r:embed="rId2"/>
          <a:stretch/>
        </p:blipFill>
        <p:spPr>
          <a:xfrm>
            <a:off x="685800" y="1143000"/>
            <a:ext cx="7275600" cy="1647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" descr=""/>
          <p:cNvPicPr/>
          <p:nvPr/>
        </p:nvPicPr>
        <p:blipFill>
          <a:blip r:embed="rId3"/>
          <a:stretch/>
        </p:blipFill>
        <p:spPr>
          <a:xfrm>
            <a:off x="914400" y="2934360"/>
            <a:ext cx="7275600" cy="163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" descr=""/>
          <p:cNvPicPr/>
          <p:nvPr/>
        </p:nvPicPr>
        <p:blipFill>
          <a:blip r:embed="rId4"/>
          <a:stretch/>
        </p:blipFill>
        <p:spPr>
          <a:xfrm>
            <a:off x="914400" y="4753800"/>
            <a:ext cx="7275600" cy="1647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has worked well?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23"/>
          <p:cNvSpPr/>
          <p:nvPr/>
        </p:nvSpPr>
        <p:spPr>
          <a:xfrm>
            <a:off x="6327720" y="150696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24"/>
          <p:cNvSpPr/>
          <p:nvPr/>
        </p:nvSpPr>
        <p:spPr>
          <a:xfrm>
            <a:off x="6296040" y="35028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1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" descr=""/>
          <p:cNvPicPr/>
          <p:nvPr/>
        </p:nvPicPr>
        <p:blipFill>
          <a:blip r:embed="rId2"/>
          <a:stretch/>
        </p:blipFill>
        <p:spPr>
          <a:xfrm>
            <a:off x="457200" y="898560"/>
            <a:ext cx="7497720" cy="5273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278720" y="-17388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can be improved on?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25"/>
          <p:cNvSpPr/>
          <p:nvPr/>
        </p:nvSpPr>
        <p:spPr>
          <a:xfrm>
            <a:off x="199080" y="411480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26"/>
          <p:cNvSpPr/>
          <p:nvPr/>
        </p:nvSpPr>
        <p:spPr>
          <a:xfrm>
            <a:off x="284040" y="48006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Picture 1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33" name=""/>
          <p:cNvGrpSpPr/>
          <p:nvPr/>
        </p:nvGrpSpPr>
        <p:grpSpPr>
          <a:xfrm>
            <a:off x="4114800" y="1076760"/>
            <a:ext cx="7543800" cy="4799160"/>
            <a:chOff x="4114800" y="1076760"/>
            <a:chExt cx="7543800" cy="4799160"/>
          </a:xfrm>
        </p:grpSpPr>
        <p:pic>
          <p:nvPicPr>
            <p:cNvPr id="134" name="" descr=""/>
            <p:cNvPicPr/>
            <p:nvPr/>
          </p:nvPicPr>
          <p:blipFill>
            <a:blip r:embed="rId2"/>
            <a:stretch/>
          </p:blipFill>
          <p:spPr>
            <a:xfrm>
              <a:off x="4114800" y="1076760"/>
              <a:ext cx="2456640" cy="47613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5" name="" descr=""/>
            <p:cNvPicPr/>
            <p:nvPr/>
          </p:nvPicPr>
          <p:blipFill>
            <a:blip r:embed="rId3"/>
            <a:stretch/>
          </p:blipFill>
          <p:spPr>
            <a:xfrm>
              <a:off x="6640200" y="1143000"/>
              <a:ext cx="5018400" cy="47329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Where to next?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27"/>
          <p:cNvSpPr/>
          <p:nvPr/>
        </p:nvSpPr>
        <p:spPr>
          <a:xfrm>
            <a:off x="7590600" y="617328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28"/>
          <p:cNvSpPr/>
          <p:nvPr/>
        </p:nvSpPr>
        <p:spPr>
          <a:xfrm>
            <a:off x="3200400" y="64008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9" name="Picture 2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" descr=""/>
          <p:cNvPicPr/>
          <p:nvPr/>
        </p:nvPicPr>
        <p:blipFill>
          <a:blip r:embed="rId2"/>
          <a:stretch/>
        </p:blipFill>
        <p:spPr>
          <a:xfrm>
            <a:off x="0" y="895320"/>
            <a:ext cx="12191760" cy="344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960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 rising tide floats all boats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29"/>
          <p:cNvSpPr/>
          <p:nvPr/>
        </p:nvSpPr>
        <p:spPr>
          <a:xfrm>
            <a:off x="6327720" y="1506960"/>
            <a:ext cx="4601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30"/>
          <p:cNvSpPr/>
          <p:nvPr/>
        </p:nvSpPr>
        <p:spPr>
          <a:xfrm>
            <a:off x="6296040" y="3502800"/>
            <a:ext cx="497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2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5" name="" descr=""/>
          <p:cNvPicPr/>
          <p:nvPr/>
        </p:nvPicPr>
        <p:blipFill>
          <a:blip r:embed="rId2"/>
          <a:stretch/>
        </p:blipFill>
        <p:spPr>
          <a:xfrm>
            <a:off x="659880" y="909000"/>
            <a:ext cx="4369320" cy="549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912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Acknowledgements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6" descr="A picture containing text, person, indoor, working&#10;&#10;Description automatically generated"/>
          <p:cNvPicPr/>
          <p:nvPr/>
        </p:nvPicPr>
        <p:blipFill>
          <a:blip r:embed="rId1"/>
          <a:stretch/>
        </p:blipFill>
        <p:spPr>
          <a:xfrm>
            <a:off x="4190040" y="2057400"/>
            <a:ext cx="3582360" cy="243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Rectangle 31"/>
          <p:cNvSpPr/>
          <p:nvPr/>
        </p:nvSpPr>
        <p:spPr>
          <a:xfrm>
            <a:off x="4161240" y="4800600"/>
            <a:ext cx="38397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Picture 22" descr=""/>
          <p:cNvPicPr/>
          <p:nvPr/>
        </p:nvPicPr>
        <p:blipFill>
          <a:blip r:embed="rId2"/>
          <a:stretch/>
        </p:blipFill>
        <p:spPr>
          <a:xfrm>
            <a:off x="374760" y="5516640"/>
            <a:ext cx="2368440" cy="42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23" descr=""/>
          <p:cNvPicPr/>
          <p:nvPr/>
        </p:nvPicPr>
        <p:blipFill>
          <a:blip r:embed="rId3"/>
          <a:stretch/>
        </p:blipFill>
        <p:spPr>
          <a:xfrm>
            <a:off x="457200" y="5995080"/>
            <a:ext cx="1987200" cy="40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Picture 24" descr=""/>
          <p:cNvPicPr/>
          <p:nvPr/>
        </p:nvPicPr>
        <p:blipFill>
          <a:blip r:embed="rId4"/>
          <a:stretch/>
        </p:blipFill>
        <p:spPr>
          <a:xfrm>
            <a:off x="10469880" y="6172200"/>
            <a:ext cx="1142280" cy="400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52" name=""/>
          <p:cNvGrpSpPr/>
          <p:nvPr/>
        </p:nvGrpSpPr>
        <p:grpSpPr>
          <a:xfrm>
            <a:off x="327600" y="1326960"/>
            <a:ext cx="3976920" cy="4797720"/>
            <a:chOff x="327600" y="1326960"/>
            <a:chExt cx="3976920" cy="4797720"/>
          </a:xfrm>
        </p:grpSpPr>
        <p:sp>
          <p:nvSpPr>
            <p:cNvPr id="153" name="Content Placeholder 1"/>
            <p:cNvSpPr/>
            <p:nvPr/>
          </p:nvSpPr>
          <p:spPr>
            <a:xfrm>
              <a:off x="327600" y="4298760"/>
              <a:ext cx="3976920" cy="1825920"/>
            </a:xfrm>
            <a:prstGeom prst="rect">
              <a:avLst/>
            </a:prstGeom>
            <a:noFill/>
            <a:ln w="190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marL="108000" defTabSz="914400">
                <a:lnSpc>
                  <a:spcPct val="100000"/>
                </a:lnSpc>
                <a:spcBef>
                  <a:spcPts val="1417"/>
                </a:spcBef>
              </a:pPr>
              <a:r>
                <a:rPr b="1" lang="en-US" sz="1800" strike="noStrike" u="sng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Thesis Advisors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r>
                <a:rPr b="0" lang="en-US" sz="18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Dr. Cristiana Cairo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r>
                <a:rPr b="0" lang="en-US" sz="18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Dr. Kirsten E. Lyke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algn="r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algn="r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algn="r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TextBox 3"/>
            <p:cNvSpPr/>
            <p:nvPr/>
          </p:nvSpPr>
          <p:spPr>
            <a:xfrm>
              <a:off x="352080" y="3156840"/>
              <a:ext cx="3404520" cy="91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108000" defTabSz="914400">
                <a:lnSpc>
                  <a:spcPct val="100000"/>
                </a:lnSpc>
                <a:spcBef>
                  <a:spcPts val="1417"/>
                </a:spcBef>
              </a:pPr>
              <a:r>
                <a:rPr b="0" lang="en-US" sz="18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All course participants, who have had occasionally had to witness us building the plane as we fly it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TextBox 1"/>
            <p:cNvSpPr/>
            <p:nvPr/>
          </p:nvSpPr>
          <p:spPr>
            <a:xfrm>
              <a:off x="352080" y="1326960"/>
              <a:ext cx="3404520" cy="1461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108000" defTabSz="914400">
                <a:lnSpc>
                  <a:spcPct val="100000"/>
                </a:lnSpc>
                <a:spcBef>
                  <a:spcPts val="1417"/>
                </a:spcBef>
              </a:pPr>
              <a:r>
                <a:rPr b="0" lang="en-US" sz="18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All the open-source contributors, developers, and maintainers, that collectively made the tool sets without which this course would not be feasible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6" name="Content Placeholder 3"/>
          <p:cNvSpPr/>
          <p:nvPr/>
        </p:nvSpPr>
        <p:spPr>
          <a:xfrm>
            <a:off x="327600" y="4298760"/>
            <a:ext cx="3976920" cy="18259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1" lang="en-US" sz="18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Thesis Advisors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4"/>
          <p:cNvSpPr/>
          <p:nvPr/>
        </p:nvSpPr>
        <p:spPr>
          <a:xfrm>
            <a:off x="352080" y="3156840"/>
            <a:ext cx="3404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course participants, who have had occasionally had to witness us building the plane as we fly it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5"/>
          <p:cNvSpPr/>
          <p:nvPr/>
        </p:nvSpPr>
        <p:spPr>
          <a:xfrm>
            <a:off x="352080" y="1326960"/>
            <a:ext cx="340452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this course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8686800" y="2607120"/>
            <a:ext cx="2261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10"/>
          <p:cNvSpPr/>
          <p:nvPr/>
        </p:nvSpPr>
        <p:spPr>
          <a:xfrm>
            <a:off x="8686800" y="4343400"/>
            <a:ext cx="2261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5520" cy="1322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Our current works in progress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32"/>
          <p:cNvSpPr/>
          <p:nvPr/>
        </p:nvSpPr>
        <p:spPr>
          <a:xfrm>
            <a:off x="457200" y="2683800"/>
            <a:ext cx="2968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33"/>
          <p:cNvSpPr/>
          <p:nvPr/>
        </p:nvSpPr>
        <p:spPr>
          <a:xfrm>
            <a:off x="8915400" y="5149800"/>
            <a:ext cx="2968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 34"/>
          <p:cNvSpPr/>
          <p:nvPr/>
        </p:nvSpPr>
        <p:spPr>
          <a:xfrm>
            <a:off x="8915400" y="2683800"/>
            <a:ext cx="2968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35"/>
          <p:cNvSpPr/>
          <p:nvPr/>
        </p:nvSpPr>
        <p:spPr>
          <a:xfrm>
            <a:off x="4800600" y="2683800"/>
            <a:ext cx="2968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36"/>
          <p:cNvSpPr/>
          <p:nvPr/>
        </p:nvSpPr>
        <p:spPr>
          <a:xfrm>
            <a:off x="4800600" y="5149800"/>
            <a:ext cx="2968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37"/>
          <p:cNvSpPr/>
          <p:nvPr/>
        </p:nvSpPr>
        <p:spPr>
          <a:xfrm>
            <a:off x="457200" y="4921200"/>
            <a:ext cx="2968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Picture 7" descr=""/>
          <p:cNvPicPr/>
          <p:nvPr/>
        </p:nvPicPr>
        <p:blipFill>
          <a:blip r:embed="rId1"/>
          <a:stretch/>
        </p:blipFill>
        <p:spPr>
          <a:xfrm>
            <a:off x="7947000" y="3470400"/>
            <a:ext cx="2108520" cy="159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Picture 25" descr=""/>
          <p:cNvPicPr/>
          <p:nvPr/>
        </p:nvPicPr>
        <p:blipFill>
          <a:blip r:embed="rId2"/>
          <a:stretch/>
        </p:blipFill>
        <p:spPr>
          <a:xfrm>
            <a:off x="4095720" y="3488400"/>
            <a:ext cx="1845000" cy="159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Picture 26" descr=""/>
          <p:cNvPicPr/>
          <p:nvPr/>
        </p:nvPicPr>
        <p:blipFill>
          <a:blip r:embed="rId3"/>
          <a:stretch/>
        </p:blipFill>
        <p:spPr>
          <a:xfrm>
            <a:off x="457200" y="3565440"/>
            <a:ext cx="1368720" cy="158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Picture 27" descr=""/>
          <p:cNvPicPr/>
          <p:nvPr/>
        </p:nvPicPr>
        <p:blipFill>
          <a:blip r:embed="rId4"/>
          <a:stretch/>
        </p:blipFill>
        <p:spPr>
          <a:xfrm>
            <a:off x="4132080" y="963000"/>
            <a:ext cx="1844640" cy="159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Picture 28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90000" y="1087200"/>
            <a:ext cx="1955880" cy="158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Picture 29" descr=""/>
          <p:cNvPicPr/>
          <p:nvPr/>
        </p:nvPicPr>
        <p:blipFill>
          <a:blip r:embed="rId6"/>
          <a:stretch/>
        </p:blipFill>
        <p:spPr>
          <a:xfrm>
            <a:off x="7947000" y="855000"/>
            <a:ext cx="2108520" cy="159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Graphic 7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064200" y="3321000"/>
            <a:ext cx="1825920" cy="182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5" name="Graphic 8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0058400" y="3321000"/>
            <a:ext cx="1825920" cy="182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raphic 9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6064200" y="819000"/>
            <a:ext cx="1825920" cy="182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Graphic 10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2021400" y="855000"/>
            <a:ext cx="1825920" cy="182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Graphic 11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2057400" y="3429000"/>
            <a:ext cx="1690200" cy="1690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Graphic 12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10058400" y="855000"/>
            <a:ext cx="1825920" cy="182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527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2026-08-09T16:50:35Z</dcterms:modified>
  <cp:revision>49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