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6.png" ContentType="image/png"/>
  <Override PartName="/ppt/media/image4.svg" ContentType="image/svg"/>
  <Override PartName="/ppt/media/image12.png" ContentType="image/png"/>
  <Override PartName="/ppt/media/image20.png" ContentType="image/png"/>
  <Override PartName="/ppt/media/image9.png" ContentType="image/png"/>
  <Override PartName="/ppt/media/image18.png" ContentType="image/png"/>
  <Override PartName="/ppt/media/image13.png" ContentType="image/png"/>
  <Override PartName="/ppt/media/image30.png" ContentType="image/png"/>
  <Override PartName="/ppt/media/image32.svg" ContentType="image/svg"/>
  <Override PartName="/ppt/media/image36.png" ContentType="image/png"/>
  <Override PartName="/ppt/media/image39.png" ContentType="image/png"/>
  <Override PartName="/ppt/media/image41.png" ContentType="image/png"/>
  <Override PartName="/ppt/media/image31.png" ContentType="image/png"/>
  <Override PartName="/ppt/media/image42.svg" ContentType="image/svg"/>
  <Override PartName="/ppt/media/image40.svg" ContentType="image/svg"/>
  <Override PartName="/ppt/media/image35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34.svg" ContentType="image/sv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7.svg" ContentType="image/svg"/>
  <Override PartName="/ppt/media/image37.png" ContentType="image/png"/>
  <Override PartName="/ppt/media/image5.png" ContentType="image/png"/>
  <Override PartName="/ppt/media/image38.svg" ContentType="image/svg"/>
  <Override PartName="/ppt/media/image14.png" ContentType="image/png"/>
  <Override PartName="/ppt/media/image11.png" ContentType="image/png"/>
  <Override PartName="/ppt/media/image2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0.xml.rels" ContentType="application/vnd.openxmlformats-package.relationships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1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1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E2A394-68BC-46BB-BB33-107CF351AC0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1440" cy="33930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5400" cy="39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6"/>
          </p:nvPr>
        </p:nvSpPr>
        <p:spPr>
          <a:xfrm>
            <a:off x="4402080" y="9553680"/>
            <a:ext cx="3367440" cy="5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B080E8-5B9B-47AB-9405-D4C4E34CD7E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12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17760" y="160452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09480" y="160704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617760" y="160704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0AF4C4-8F27-40CE-B02C-8FCD5899BB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1-title-Title-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236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F98BD1-D129-4954-A807-116BA161C3C9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236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93228A-56AD-4F53-90A0-5A59C1E82710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712440"/>
            <a:ext cx="10512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17760" y="160452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9480" y="160704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17760" y="1607040"/>
            <a:ext cx="7560" cy="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2A5BC69-AED8-47E5-8A8B-6BC7EB62FA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712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2712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D5C41D-13AC-4DF1-96E0-FFBAB22BDC41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712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712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028D47-A835-46D2-BD75-C66365C41B1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2.png"/><Relationship Id="rId8" Type="http://schemas.openxmlformats.org/officeDocument/2006/relationships/image" Target="../media/image31.png"/><Relationship Id="rId9" Type="http://schemas.openxmlformats.org/officeDocument/2006/relationships/image" Target="../media/image32.svg"/><Relationship Id="rId10" Type="http://schemas.openxmlformats.org/officeDocument/2006/relationships/image" Target="../media/image33.png"/><Relationship Id="rId11" Type="http://schemas.openxmlformats.org/officeDocument/2006/relationships/image" Target="../media/image34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37.png"/><Relationship Id="rId6" Type="http://schemas.openxmlformats.org/officeDocument/2006/relationships/image" Target="../media/image38.svg"/><Relationship Id="rId7" Type="http://schemas.openxmlformats.org/officeDocument/2006/relationships/image" Target="../media/image39.png"/><Relationship Id="rId8" Type="http://schemas.openxmlformats.org/officeDocument/2006/relationships/image" Target="../media/image40.svg"/><Relationship Id="rId9" Type="http://schemas.openxmlformats.org/officeDocument/2006/relationships/image" Target="../media/image41.png"/><Relationship Id="rId10" Type="http://schemas.openxmlformats.org/officeDocument/2006/relationships/image" Target="../media/image42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7640" y="1600200"/>
            <a:ext cx="1051236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R: A free weekly course for flow cytometrist with </a:t>
            </a:r>
            <a:br>
              <a:rPr sz="2600"/>
            </a:b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no-to-little coding experience</a:t>
            </a:r>
            <a:br>
              <a:rPr sz="2600"/>
            </a:b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917280" y="5203440"/>
            <a:ext cx="9598320" cy="38829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David Rach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Natarajan Ayithan, Xiaoxuan Fan.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UMGCCC Flow Cytometry Shared Resource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August 10, 2026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Picture 4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Box 2"/>
          <p:cNvSpPr/>
          <p:nvPr/>
        </p:nvSpPr>
        <p:spPr>
          <a:xfrm>
            <a:off x="122760" y="6332400"/>
            <a:ext cx="210492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4" name="Picture 4" descr=""/>
          <p:cNvPicPr/>
          <p:nvPr/>
        </p:nvPicPr>
        <p:blipFill>
          <a:blip r:embed="rId2"/>
          <a:stretch/>
        </p:blipFill>
        <p:spPr>
          <a:xfrm>
            <a:off x="4114800" y="2514600"/>
            <a:ext cx="3576600" cy="263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40840" y="5203440"/>
            <a:ext cx="1359000" cy="11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4"/>
          <p:cNvSpPr/>
          <p:nvPr/>
        </p:nvSpPr>
        <p:spPr>
          <a:xfrm>
            <a:off x="-146160" y="6521400"/>
            <a:ext cx="1553400" cy="10504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Picture 50" descr=""/>
          <p:cNvPicPr/>
          <p:nvPr/>
        </p:nvPicPr>
        <p:blipFill>
          <a:blip r:embed="rId5"/>
          <a:stretch/>
        </p:blipFill>
        <p:spPr>
          <a:xfrm>
            <a:off x="8458200" y="228960"/>
            <a:ext cx="3426480" cy="13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raphic 51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57560" y="228960"/>
            <a:ext cx="4116240" cy="108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 Cytometry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Picture 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 Cytometry and Bioconductor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57"/>
          <p:cNvSpPr/>
          <p:nvPr/>
        </p:nvSpPr>
        <p:spPr>
          <a:xfrm>
            <a:off x="6228000" y="2514600"/>
            <a:ext cx="49734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FlowCore is the oldest extant package (Bioc 2.0, 2007)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72 packages list Flow Cytometry in their biocViews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2"/>
          <a:srcRect l="0" t="-1912" r="0" b="0"/>
          <a:stretch/>
        </p:blipFill>
        <p:spPr>
          <a:xfrm>
            <a:off x="685800" y="685800"/>
            <a:ext cx="5028840" cy="571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 Cytometry and Bioconductor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7086600" y="1922040"/>
            <a:ext cx="48006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are severely under-utilized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7 packages with &gt; 10,000 yearly downloads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15 packages with &gt; 4000 yearly downloads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263880" y="1305000"/>
            <a:ext cx="6594120" cy="441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89240" cy="86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Lack of wider community adoption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741600" y="1373400"/>
            <a:ext cx="49734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Vast majority of the community uses commercial software (ex. FlowJo, FCSExpress, etc.)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Manual hierarchical gates are drawn around cell populations of interest via graphical-user interface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6771600" y="914400"/>
            <a:ext cx="4886640" cy="50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ectangle 6"/>
          <p:cNvSpPr/>
          <p:nvPr/>
        </p:nvSpPr>
        <p:spPr>
          <a:xfrm>
            <a:off x="741600" y="4436640"/>
            <a:ext cx="497340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228600" y="1371600"/>
            <a:ext cx="4601160" cy="41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Popularized by the Cytek Aurora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Able to resolve incredibly similar fluorophores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Largest panels &gt;60 fluorophores, matching mass cytometry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Retains speed of acquisition of conventional flow cytometry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457200" y="3658680"/>
            <a:ext cx="497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4865040" y="1140120"/>
            <a:ext cx="7021800" cy="434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Datasets, Combinatorially Exponential Clusters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30" descr=""/>
          <p:cNvPicPr/>
          <p:nvPr/>
        </p:nvPicPr>
        <p:blipFill>
          <a:blip r:embed="rId1"/>
          <a:stretch/>
        </p:blipFill>
        <p:spPr>
          <a:xfrm>
            <a:off x="6629400" y="960840"/>
            <a:ext cx="5025960" cy="447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Rectangle 38"/>
          <p:cNvSpPr/>
          <p:nvPr/>
        </p:nvSpPr>
        <p:spPr>
          <a:xfrm>
            <a:off x="524880" y="1442880"/>
            <a:ext cx="5497920" cy="85788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 anchorCtr="1">
            <a:spAutoFit/>
          </a:bodyPr>
          <a:p>
            <a:pPr algn="ctr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Manual Gating no longer is sufficient to thoroughly profile individual specimens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39"/>
          <p:cNvSpPr/>
          <p:nvPr/>
        </p:nvSpPr>
        <p:spPr>
          <a:xfrm>
            <a:off x="429120" y="3888000"/>
            <a:ext cx="5971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9-color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CFC panel: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512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at most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0"/>
          <p:cNvSpPr/>
          <p:nvPr/>
        </p:nvSpPr>
        <p:spPr>
          <a:xfrm>
            <a:off x="402840" y="3886200"/>
            <a:ext cx="7826760" cy="10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panel: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clusters at most (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3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Rectangle 1"/>
          <p:cNvSpPr/>
          <p:nvPr/>
        </p:nvSpPr>
        <p:spPr>
          <a:xfrm>
            <a:off x="429120" y="2514600"/>
            <a:ext cx="597168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every marker split positive and negative; splits repeated for every marker: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Potential groupings: 2</a:t>
            </a:r>
            <a:r>
              <a:rPr b="0" lang="en-US" sz="2400" strike="noStrike" u="none" baseline="3300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NumberOfFluorophores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41"/>
          <p:cNvSpPr/>
          <p:nvPr/>
        </p:nvSpPr>
        <p:spPr>
          <a:xfrm>
            <a:off x="566280" y="5029200"/>
            <a:ext cx="5497920" cy="15894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 anchorCtr="1">
            <a:spAutoFit/>
          </a:bodyPr>
          <a:p>
            <a:pPr algn="ctr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Increasing use of semi-supervised and unsupervised algorithms for analysis, many already implemented as Bioconductor packages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Lack of beginner friendly resources a major barrier to entry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1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9" name=""/>
          <p:cNvGrpSpPr/>
          <p:nvPr/>
        </p:nvGrpSpPr>
        <p:grpSpPr>
          <a:xfrm>
            <a:off x="4800600" y="1371600"/>
            <a:ext cx="6730200" cy="4343400"/>
            <a:chOff x="4800600" y="1371600"/>
            <a:chExt cx="6730200" cy="4343400"/>
          </a:xfrm>
        </p:grpSpPr>
        <p:pic>
          <p:nvPicPr>
            <p:cNvPr id="90" name="" descr=""/>
            <p:cNvPicPr/>
            <p:nvPr/>
          </p:nvPicPr>
          <p:blipFill>
            <a:blip r:embed="rId2"/>
            <a:stretch/>
          </p:blipFill>
          <p:spPr>
            <a:xfrm>
              <a:off x="4800600" y="1371600"/>
              <a:ext cx="6730200" cy="4343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" descr=""/>
            <p:cNvPicPr/>
            <p:nvPr/>
          </p:nvPicPr>
          <p:blipFill>
            <a:blip r:embed="rId3"/>
            <a:stretch/>
          </p:blipFill>
          <p:spPr>
            <a:xfrm>
              <a:off x="8342280" y="1600200"/>
              <a:ext cx="2522520" cy="2575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2" name=""/>
          <p:cNvSpPr/>
          <p:nvPr/>
        </p:nvSpPr>
        <p:spPr>
          <a:xfrm>
            <a:off x="228600" y="1371600"/>
            <a:ext cx="4464000" cy="41490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0"/>
          <p:cNvSpPr/>
          <p:nvPr/>
        </p:nvSpPr>
        <p:spPr>
          <a:xfrm>
            <a:off x="199440" y="1407600"/>
            <a:ext cx="460116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 Existing Resources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Those that exist aimed at those with intermediate-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advanced R skills.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know-how concentrated at a few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institutions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self-learning attempts end in frustration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7374600" y="1564200"/>
            <a:ext cx="4356000" cy="36936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R: A free weekly course for flow cytometrist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 no-to-little coding experience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9"/>
          <p:cNvSpPr/>
          <p:nvPr/>
        </p:nvSpPr>
        <p:spPr>
          <a:xfrm>
            <a:off x="7406640" y="1600200"/>
            <a:ext cx="460116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Announced in November 2025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Woke up to find I had correctly guessed a community need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2000 researchers worldwide signed up for email updates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Had to update planned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1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260640" y="1081800"/>
            <a:ext cx="6825600" cy="151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3"/>
          <a:stretch/>
        </p:blipFill>
        <p:spPr>
          <a:xfrm>
            <a:off x="243720" y="2774160"/>
            <a:ext cx="6842520" cy="402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2214000" y="4264920"/>
            <a:ext cx="7808400" cy="2364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Overall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11"/>
          <p:cNvSpPr/>
          <p:nvPr/>
        </p:nvSpPr>
        <p:spPr>
          <a:xfrm>
            <a:off x="2286000" y="4343400"/>
            <a:ext cx="7772400" cy="19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30-week course, starting from Intro to R, gradually moving to more advanced content.  to more advanced content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ways to learn with flexible scheduling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Taught in Positron instead of Rstudio (ask me why!)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Version Control/Git introduced from the beginning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1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-3600" y="745200"/>
            <a:ext cx="12191400" cy="344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228600" y="868320"/>
            <a:ext cx="5715000" cy="55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YouTube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3"/>
          <p:cNvSpPr/>
          <p:nvPr/>
        </p:nvSpPr>
        <p:spPr>
          <a:xfrm>
            <a:off x="6327720" y="1506960"/>
            <a:ext cx="4601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4"/>
          <p:cNvSpPr/>
          <p:nvPr/>
        </p:nvSpPr>
        <p:spPr>
          <a:xfrm>
            <a:off x="6296040" y="3502800"/>
            <a:ext cx="497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"/>
          <p:cNvSpPr/>
          <p:nvPr/>
        </p:nvSpPr>
        <p:spPr>
          <a:xfrm>
            <a:off x="7270560" y="1995840"/>
            <a:ext cx="4114800" cy="28767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252000" y="1238040"/>
            <a:ext cx="4656600" cy="42483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Website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5"/>
          <p:cNvSpPr/>
          <p:nvPr/>
        </p:nvSpPr>
        <p:spPr>
          <a:xfrm>
            <a:off x="495720" y="1506960"/>
            <a:ext cx="4601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6"/>
          <p:cNvSpPr/>
          <p:nvPr/>
        </p:nvSpPr>
        <p:spPr>
          <a:xfrm>
            <a:off x="464040" y="3502800"/>
            <a:ext cx="497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14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5029200" y="1062000"/>
            <a:ext cx="5403600" cy="442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6773400" y="1139760"/>
            <a:ext cx="4656600" cy="42483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GitHub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17"/>
          <p:cNvSpPr/>
          <p:nvPr/>
        </p:nvSpPr>
        <p:spPr>
          <a:xfrm>
            <a:off x="6828480" y="1372680"/>
            <a:ext cx="4601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8"/>
          <p:cNvSpPr/>
          <p:nvPr/>
        </p:nvSpPr>
        <p:spPr>
          <a:xfrm>
            <a:off x="6858000" y="3430080"/>
            <a:ext cx="497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1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457200" y="914400"/>
            <a:ext cx="6046920" cy="481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252000" y="1238040"/>
            <a:ext cx="4656600" cy="42483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Discussion Forum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9"/>
          <p:cNvSpPr/>
          <p:nvPr/>
        </p:nvSpPr>
        <p:spPr>
          <a:xfrm>
            <a:off x="488880" y="1828800"/>
            <a:ext cx="4601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20"/>
          <p:cNvSpPr/>
          <p:nvPr/>
        </p:nvSpPr>
        <p:spPr>
          <a:xfrm>
            <a:off x="457200" y="3824640"/>
            <a:ext cx="497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5362920" y="685800"/>
            <a:ext cx="6066720" cy="524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6629400" y="1238040"/>
            <a:ext cx="5342400" cy="42483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How has it been going?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21"/>
          <p:cNvSpPr/>
          <p:nvPr/>
        </p:nvSpPr>
        <p:spPr>
          <a:xfrm>
            <a:off x="6858000" y="1371600"/>
            <a:ext cx="505836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Per Google, GitHub and YouTube analytics: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Subscribers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Forks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200-350 average weekly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22"/>
          <p:cNvSpPr/>
          <p:nvPr/>
        </p:nvSpPr>
        <p:spPr>
          <a:xfrm>
            <a:off x="7086600" y="4387320"/>
            <a:ext cx="49734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Learning to code is like an ultra marathon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1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4" name=""/>
          <p:cNvGrpSpPr/>
          <p:nvPr/>
        </p:nvGrpSpPr>
        <p:grpSpPr>
          <a:xfrm>
            <a:off x="457200" y="1143000"/>
            <a:ext cx="3460680" cy="2743200"/>
            <a:chOff x="457200" y="1143000"/>
            <a:chExt cx="3460680" cy="2743200"/>
          </a:xfrm>
        </p:grpSpPr>
        <p:pic>
          <p:nvPicPr>
            <p:cNvPr id="135" name="" descr=""/>
            <p:cNvPicPr/>
            <p:nvPr/>
          </p:nvPicPr>
          <p:blipFill>
            <a:blip r:embed="rId2"/>
            <a:stretch/>
          </p:blipFill>
          <p:spPr>
            <a:xfrm>
              <a:off x="457200" y="2035440"/>
              <a:ext cx="3422520" cy="928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" name="" descr=""/>
            <p:cNvPicPr/>
            <p:nvPr/>
          </p:nvPicPr>
          <p:blipFill>
            <a:blip r:embed="rId3"/>
            <a:stretch/>
          </p:blipFill>
          <p:spPr>
            <a:xfrm>
              <a:off x="476280" y="2963520"/>
              <a:ext cx="3422520" cy="92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7" name="" descr=""/>
            <p:cNvPicPr/>
            <p:nvPr/>
          </p:nvPicPr>
          <p:blipFill>
            <a:blip r:embed="rId4"/>
            <a:stretch/>
          </p:blipFill>
          <p:spPr>
            <a:xfrm>
              <a:off x="476280" y="1143000"/>
              <a:ext cx="3441600" cy="9280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7270560" y="1635840"/>
            <a:ext cx="4114800" cy="37191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Community Feedback Surveys: What has worked well?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23"/>
          <p:cNvSpPr/>
          <p:nvPr/>
        </p:nvSpPr>
        <p:spPr>
          <a:xfrm>
            <a:off x="6327720" y="1506960"/>
            <a:ext cx="4601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24"/>
          <p:cNvSpPr/>
          <p:nvPr/>
        </p:nvSpPr>
        <p:spPr>
          <a:xfrm>
            <a:off x="6296040" y="3502800"/>
            <a:ext cx="497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1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228600" y="1047960"/>
            <a:ext cx="6858000" cy="48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Rectangle 8"/>
          <p:cNvSpPr/>
          <p:nvPr/>
        </p:nvSpPr>
        <p:spPr>
          <a:xfrm>
            <a:off x="7286040" y="1697400"/>
            <a:ext cx="460116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Flexible schedule, with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multiple formats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Detailed explanations from a cytometry perspective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Free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Strangely… Positron and Git?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228600" y="1238040"/>
            <a:ext cx="4680000" cy="42483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28600" y="49320"/>
            <a:ext cx="12189240" cy="1093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Community Feedback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Surveys: What can be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on?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25"/>
          <p:cNvSpPr/>
          <p:nvPr/>
        </p:nvSpPr>
        <p:spPr>
          <a:xfrm>
            <a:off x="176400" y="1375200"/>
            <a:ext cx="4601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 hindsight: Probably shouldn’t have started this project at the same time as writing my thesis.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26"/>
          <p:cNvSpPr/>
          <p:nvPr/>
        </p:nvSpPr>
        <p:spPr>
          <a:xfrm>
            <a:off x="180000" y="2971800"/>
            <a:ext cx="49734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Case-in-point: Feedback on the Optional Take-Home Problems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1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0" name=""/>
          <p:cNvGrpSpPr/>
          <p:nvPr/>
        </p:nvGrpSpPr>
        <p:grpSpPr>
          <a:xfrm>
            <a:off x="5029200" y="1148760"/>
            <a:ext cx="6857640" cy="4409640"/>
            <a:chOff x="5029200" y="1148760"/>
            <a:chExt cx="6857640" cy="4409640"/>
          </a:xfrm>
        </p:grpSpPr>
        <p:pic>
          <p:nvPicPr>
            <p:cNvPr id="151" name="" descr=""/>
            <p:cNvPicPr/>
            <p:nvPr/>
          </p:nvPicPr>
          <p:blipFill>
            <a:blip r:embed="rId2"/>
            <a:stretch/>
          </p:blipFill>
          <p:spPr>
            <a:xfrm>
              <a:off x="5029200" y="1148760"/>
              <a:ext cx="2233080" cy="4375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2" name="" descr=""/>
            <p:cNvPicPr/>
            <p:nvPr/>
          </p:nvPicPr>
          <p:blipFill>
            <a:blip r:embed="rId3"/>
            <a:stretch/>
          </p:blipFill>
          <p:spPr>
            <a:xfrm>
              <a:off x="7324920" y="1209600"/>
              <a:ext cx="4561920" cy="4348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3" name="Rectangle 7"/>
          <p:cNvSpPr/>
          <p:nvPr/>
        </p:nvSpPr>
        <p:spPr>
          <a:xfrm>
            <a:off x="176400" y="3886200"/>
            <a:ext cx="497340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Despite planning for it, still vastly underestimated the number of potential installation issues on Windows vs. individual IT policies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2569320" y="4523400"/>
            <a:ext cx="6629400" cy="16002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Where to next?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28"/>
          <p:cNvSpPr/>
          <p:nvPr/>
        </p:nvSpPr>
        <p:spPr>
          <a:xfrm>
            <a:off x="2714400" y="4672080"/>
            <a:ext cx="70308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Wrapping up Cytometry Core module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Starting on Unsupervised Analysis section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2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2"/>
          <a:stretch/>
        </p:blipFill>
        <p:spPr>
          <a:xfrm>
            <a:off x="0" y="895320"/>
            <a:ext cx="12191400" cy="344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5185800" y="1407600"/>
            <a:ext cx="6485400" cy="41148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924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 rising tide floats all boats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29"/>
          <p:cNvSpPr/>
          <p:nvPr/>
        </p:nvSpPr>
        <p:spPr>
          <a:xfrm>
            <a:off x="5257800" y="1509840"/>
            <a:ext cx="662940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72 Bioconductor cytometry packages (+ 20? GitHub based packages)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Only subset will have been covered during the planned 30 week course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One-off community walk-throughs?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Hopefully those just getting started contribute to projects of interest in their own right in time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2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" descr=""/>
          <p:cNvPicPr/>
          <p:nvPr/>
        </p:nvPicPr>
        <p:blipFill>
          <a:blip r:embed="rId2"/>
          <a:stretch/>
        </p:blipFill>
        <p:spPr>
          <a:xfrm>
            <a:off x="659880" y="909000"/>
            <a:ext cx="3912120" cy="491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457200" y="5715000"/>
            <a:ext cx="1828800" cy="4572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0395000" y="3729600"/>
            <a:ext cx="1371600" cy="6858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8458200" y="3693600"/>
            <a:ext cx="1371600" cy="6858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886200" y="4800600"/>
            <a:ext cx="4343400" cy="13716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457200" y="4803840"/>
            <a:ext cx="2057400" cy="6825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57200" y="3657600"/>
            <a:ext cx="3429000" cy="9144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57200" y="1828800"/>
            <a:ext cx="3429000" cy="16002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886200" y="46080"/>
            <a:ext cx="456876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Acknowledgements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31"/>
          <p:cNvSpPr/>
          <p:nvPr/>
        </p:nvSpPr>
        <p:spPr>
          <a:xfrm>
            <a:off x="3886200" y="4800600"/>
            <a:ext cx="429696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22" descr=""/>
          <p:cNvPicPr/>
          <p:nvPr/>
        </p:nvPicPr>
        <p:blipFill>
          <a:blip r:embed="rId1"/>
          <a:stretch/>
        </p:blipFill>
        <p:spPr>
          <a:xfrm>
            <a:off x="9290520" y="5257800"/>
            <a:ext cx="2368080" cy="4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23" descr=""/>
          <p:cNvPicPr/>
          <p:nvPr/>
        </p:nvPicPr>
        <p:blipFill>
          <a:blip r:embed="rId2"/>
          <a:stretch/>
        </p:blipFill>
        <p:spPr>
          <a:xfrm>
            <a:off x="9673200" y="5684400"/>
            <a:ext cx="1986840" cy="40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24" descr=""/>
          <p:cNvPicPr/>
          <p:nvPr/>
        </p:nvPicPr>
        <p:blipFill>
          <a:blip r:embed="rId3"/>
          <a:stretch/>
        </p:blipFill>
        <p:spPr>
          <a:xfrm>
            <a:off x="104698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6" name=""/>
          <p:cNvGrpSpPr/>
          <p:nvPr/>
        </p:nvGrpSpPr>
        <p:grpSpPr>
          <a:xfrm>
            <a:off x="366840" y="1832040"/>
            <a:ext cx="3976560" cy="4797360"/>
            <a:chOff x="366840" y="1832040"/>
            <a:chExt cx="3976560" cy="4797360"/>
          </a:xfrm>
        </p:grpSpPr>
        <p:sp>
          <p:nvSpPr>
            <p:cNvPr id="177" name="Content Placeholder 1"/>
            <p:cNvSpPr/>
            <p:nvPr/>
          </p:nvSpPr>
          <p:spPr>
            <a:xfrm>
              <a:off x="366840" y="4803840"/>
              <a:ext cx="3976560" cy="1825560"/>
            </a:xfrm>
            <a:prstGeom prst="rect">
              <a:avLst/>
            </a:prstGeom>
            <a:noFill/>
            <a:ln w="1908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marL="108000" defTabSz="914400">
                <a:lnSpc>
                  <a:spcPct val="100000"/>
                </a:lnSpc>
                <a:spcBef>
                  <a:spcPts val="1417"/>
                </a:spcBef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Dr. Cristiana Cairo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defTabSz="914400">
                <a:lnSpc>
                  <a:spcPts val="720"/>
                </a:lnSpc>
                <a:spcBef>
                  <a:spcPts val="1417"/>
                </a:spcBef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Dr. Kirsten E. Lyke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algn="r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algn="r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algn="r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8000" defTabSz="914400">
                <a:lnSpc>
                  <a:spcPts val="720"/>
                </a:lnSpc>
                <a:spcBef>
                  <a:spcPts val="1417"/>
                </a:spcBef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TextBox 3"/>
            <p:cNvSpPr/>
            <p:nvPr/>
          </p:nvSpPr>
          <p:spPr>
            <a:xfrm>
              <a:off x="391320" y="3661920"/>
              <a:ext cx="340416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08000" defTabSz="914400">
                <a:lnSpc>
                  <a:spcPct val="100000"/>
                </a:lnSpc>
                <a:spcBef>
                  <a:spcPts val="1417"/>
                </a:spcBef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All course participants, who have had occasionally had to witness us building the plane as we fly it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TextBox 1"/>
            <p:cNvSpPr/>
            <p:nvPr/>
          </p:nvSpPr>
          <p:spPr>
            <a:xfrm>
              <a:off x="391320" y="1832040"/>
              <a:ext cx="3404160" cy="14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08000" defTabSz="914400">
                <a:lnSpc>
                  <a:spcPct val="100000"/>
                </a:lnSpc>
                <a:spcBef>
                  <a:spcPts val="1417"/>
                </a:spcBef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All the open-source contributors, developers, and maintainers, that collectively made the tool sets without which this course would not be feasible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" name="Content Placeholder 3"/>
          <p:cNvSpPr/>
          <p:nvPr/>
        </p:nvSpPr>
        <p:spPr>
          <a:xfrm>
            <a:off x="9829800" y="1486800"/>
            <a:ext cx="3976560" cy="18255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8001000" y="3926880"/>
            <a:ext cx="2261160" cy="4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10287000" y="3938760"/>
            <a:ext cx="157536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Bioconductor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Zulip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  <p:pic>
        <p:nvPicPr>
          <p:cNvPr id="183" name="Picture 9" descr=""/>
          <p:cNvPicPr/>
          <p:nvPr/>
        </p:nvPicPr>
        <p:blipFill>
          <a:blip r:embed="rId4"/>
          <a:stretch/>
        </p:blipFill>
        <p:spPr>
          <a:xfrm>
            <a:off x="8686800" y="229320"/>
            <a:ext cx="3197880" cy="12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raphic 2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27160" y="228600"/>
            <a:ext cx="3659040" cy="96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27"/>
          <p:cNvSpPr/>
          <p:nvPr/>
        </p:nvSpPr>
        <p:spPr>
          <a:xfrm>
            <a:off x="3886200" y="4800600"/>
            <a:ext cx="429696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6" descr=""/>
          <p:cNvPicPr/>
          <p:nvPr/>
        </p:nvPicPr>
        <p:blipFill>
          <a:blip r:embed="rId7"/>
          <a:stretch/>
        </p:blipFill>
        <p:spPr>
          <a:xfrm>
            <a:off x="4292640" y="1600200"/>
            <a:ext cx="3936960" cy="298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Box 4"/>
          <p:cNvSpPr/>
          <p:nvPr/>
        </p:nvSpPr>
        <p:spPr>
          <a:xfrm>
            <a:off x="204840" y="5943600"/>
            <a:ext cx="22611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Daniela Franco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350200" y="2080800"/>
            <a:ext cx="1600200" cy="160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251000" y="2106000"/>
            <a:ext cx="1600200" cy="160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2971800" y="1143000"/>
            <a:ext cx="4572000" cy="50324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143000" y="-182520"/>
            <a:ext cx="1005516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33"/>
          <p:cNvSpPr/>
          <p:nvPr/>
        </p:nvSpPr>
        <p:spPr>
          <a:xfrm>
            <a:off x="4346640" y="5579640"/>
            <a:ext cx="296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YouTube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@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4"/>
          <p:cNvSpPr/>
          <p:nvPr/>
        </p:nvSpPr>
        <p:spPr>
          <a:xfrm>
            <a:off x="3200400" y="3080160"/>
            <a:ext cx="43401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https://github.com/UMGCCCFCSR/CytometryInR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35"/>
          <p:cNvSpPr/>
          <p:nvPr/>
        </p:nvSpPr>
        <p:spPr>
          <a:xfrm>
            <a:off x="8440920" y="3113640"/>
            <a:ext cx="296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Luciernaga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36"/>
          <p:cNvSpPr/>
          <p:nvPr/>
        </p:nvSpPr>
        <p:spPr>
          <a:xfrm>
            <a:off x="8440920" y="5579640"/>
            <a:ext cx="296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7" descr=""/>
          <p:cNvPicPr/>
          <p:nvPr/>
        </p:nvPicPr>
        <p:blipFill>
          <a:blip r:embed="rId1"/>
          <a:stretch/>
        </p:blipFill>
        <p:spPr>
          <a:xfrm>
            <a:off x="3378240" y="3900240"/>
            <a:ext cx="210816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25" descr=""/>
          <p:cNvPicPr/>
          <p:nvPr/>
        </p:nvPicPr>
        <p:blipFill>
          <a:blip r:embed="rId2"/>
          <a:stretch/>
        </p:blipFill>
        <p:spPr>
          <a:xfrm>
            <a:off x="7772400" y="3886200"/>
            <a:ext cx="184464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27" descr=""/>
          <p:cNvPicPr/>
          <p:nvPr/>
        </p:nvPicPr>
        <p:blipFill>
          <a:blip r:embed="rId3"/>
          <a:stretch/>
        </p:blipFill>
        <p:spPr>
          <a:xfrm>
            <a:off x="7772400" y="1392840"/>
            <a:ext cx="184428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29" descr=""/>
          <p:cNvPicPr/>
          <p:nvPr/>
        </p:nvPicPr>
        <p:blipFill>
          <a:blip r:embed="rId4"/>
          <a:stretch/>
        </p:blipFill>
        <p:spPr>
          <a:xfrm>
            <a:off x="3378240" y="1329480"/>
            <a:ext cx="210816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Graphic 7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4520" y="375084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Graphic 8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489640" y="375084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Graphic 9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704520" y="124884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Graphic 12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5489640" y="132948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"/>
          <p:cNvSpPr txBox="1"/>
          <p:nvPr/>
        </p:nvSpPr>
        <p:spPr>
          <a:xfrm>
            <a:off x="228600" y="2971800"/>
            <a:ext cx="2286000" cy="11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Current Works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 Progress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</TotalTime>
  <Application>LibreOffice/25.2.3.2$Linux_X86_64 LibreOffice_project/520$Build-2</Application>
  <AppVersion>15.0000</AppVersion>
  <Words>1146</Words>
  <Paragraphs>268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2025-07-21T11:58:18Z</dcterms:created>
  <dc:creator>Thomas Evans</dc:creator>
  <dc:description/>
  <dc:language>en-US</dc:language>
  <cp:lastModifiedBy/>
  <dcterms:modified xsi:type="dcterms:W3CDTF">2026-08-09T18:59:16Z</dcterms:modified>
  <cp:revision>57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0x010100804A9A38EF1C6344A4E9D5FEC9AF05B5</vt:lpwstr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39</vt:i4>
  </property>
  <property fmtid="{D5CDD505-2E9C-101B-9397-08002B2CF9AE}" pid="6" name="_dlc_DocIdItemGuid">
    <vt:lpwstr>4d3e5825-e8bc-4995-b9ad-4f8ee15e5c87</vt:lpwstr>
  </property>
</Properties>
</file>