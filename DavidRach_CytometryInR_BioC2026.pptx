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5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44.svg" ContentType="image/svg"/>
  <Override PartName="/ppt/media/image18.png" ContentType="image/png"/>
  <Override PartName="/ppt/media/image16.png" ContentType="image/png"/>
  <Override PartName="/ppt/media/image17.png" ContentType="image/png"/>
  <Override PartName="/ppt/media/image8.png" ContentType="image/png"/>
  <Override PartName="/ppt/media/image13.png" ContentType="image/png"/>
  <Override PartName="/ppt/media/image30.png" ContentType="image/png"/>
  <Override PartName="/ppt/media/image32.png" ContentType="image/png"/>
  <Override PartName="/ppt/media/image39.png" ContentType="image/png"/>
  <Override PartName="/ppt/media/image41.png" ContentType="image/png"/>
  <Override PartName="/ppt/media/image42.svg" ContentType="image/svg"/>
  <Override PartName="/ppt/media/image31.png" ContentType="image/png"/>
  <Override PartName="/ppt/media/image35.png" ContentType="image/png"/>
  <Override PartName="/ppt/media/image3.png" ContentType="image/png"/>
  <Override PartName="/ppt/media/image40.svg" ContentType="image/svg"/>
  <Override PartName="/ppt/media/image43.png" ContentType="image/png"/>
  <Override PartName="/ppt/media/image34.svg" ContentType="image/sv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7.svg" ContentType="image/svg"/>
  <Override PartName="/ppt/media/image37.png" ContentType="image/png"/>
  <Override PartName="/ppt/media/image5.png" ContentType="image/png"/>
  <Override PartName="/ppt/media/image14.png" ContentType="image/png"/>
  <Override PartName="/ppt/media/image2.png" ContentType="image/png"/>
  <Override PartName="/ppt/media/image9.jpeg" ContentType="image/jpeg"/>
  <Override PartName="/ppt/media/image11.png" ContentType="image/png"/>
  <Override PartName="/ppt/media/image12.png" ContentType="image/png"/>
  <Override PartName="/ppt/media/image4.svg" ContentType="image/svg"/>
  <Override PartName="/ppt/media/image36.svg" ContentType="image/sv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22.xml.rels" ContentType="application/vnd.openxmlformats-package.relationships+xml"/>
  <Override PartName="/ppt/notesSlides/notesSlide2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1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1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1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998D615-D4EC-4231-AE62-EE6FCFBA8E11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31080" cy="339264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5040" cy="39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16"/>
          </p:nvPr>
        </p:nvSpPr>
        <p:spPr>
          <a:xfrm>
            <a:off x="4402080" y="9553680"/>
            <a:ext cx="3367080" cy="50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FF5C5B-E738-4E41-B5B7-6B147399E202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200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13440" y="160452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524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13440" y="160524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C75C7A-99AD-419E-B317-27E450D3C5C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200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068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068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068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068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8CB803-B9F5-433C-B726-048386759CDA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200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29440" cy="189324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DC93EF-84A1-4D00-8D61-1D19716F647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2-obj-Title-and-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712080"/>
            <a:ext cx="1051200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613440" y="160452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609480" y="160524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13440" y="1605240"/>
            <a:ext cx="32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B7FC8EE-2733-4BC5-9FC8-93F459F66F6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20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720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720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7040"/>
            <a:ext cx="720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17760" y="1607040"/>
            <a:ext cx="720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A12994-E103-48AB-85E8-473EC26ED2C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20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720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720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9480" y="1607040"/>
            <a:ext cx="720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17760" y="1607040"/>
            <a:ext cx="7200" cy="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12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606054-55A3-450E-8028-68EABBBA7DF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9600" cy="361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svg"/><Relationship Id="rId8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9.jpeg"/><Relationship Id="rId4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jpe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0.png"/><Relationship Id="rId3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svg"/><Relationship Id="rId7" Type="http://schemas.openxmlformats.org/officeDocument/2006/relationships/image" Target="../media/image2.png"/><Relationship Id="rId8" Type="http://schemas.openxmlformats.org/officeDocument/2006/relationships/image" Target="../media/image33.png"/><Relationship Id="rId9" Type="http://schemas.openxmlformats.org/officeDocument/2006/relationships/image" Target="../media/image34.svg"/><Relationship Id="rId10" Type="http://schemas.openxmlformats.org/officeDocument/2006/relationships/image" Target="../media/image35.png"/><Relationship Id="rId11" Type="http://schemas.openxmlformats.org/officeDocument/2006/relationships/image" Target="../media/image36.sv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2.png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43.png"/><Relationship Id="rId10" Type="http://schemas.openxmlformats.org/officeDocument/2006/relationships/image" Target="../media/image44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917640" y="1600200"/>
            <a:ext cx="1051200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br>
              <a:rPr sz="2600"/>
            </a:b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-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-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x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br>
              <a:rPr sz="2600"/>
            </a:b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917280" y="5203440"/>
            <a:ext cx="9597960" cy="3882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Natarajan Ayithan, Xiaoxuan Fan.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UMGCCC Flow Cytometry Shared Resource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August 10, 2026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Box 2"/>
          <p:cNvSpPr/>
          <p:nvPr/>
        </p:nvSpPr>
        <p:spPr>
          <a:xfrm>
            <a:off x="122760" y="6332400"/>
            <a:ext cx="210456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4" name="Picture 4" descr=""/>
          <p:cNvPicPr/>
          <p:nvPr/>
        </p:nvPicPr>
        <p:blipFill>
          <a:blip r:embed="rId2"/>
          <a:stretch/>
        </p:blipFill>
        <p:spPr>
          <a:xfrm>
            <a:off x="4114800" y="2514600"/>
            <a:ext cx="3576240" cy="263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40840" y="5203440"/>
            <a:ext cx="1358640" cy="119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PlaceHolder 4"/>
          <p:cNvSpPr/>
          <p:nvPr/>
        </p:nvSpPr>
        <p:spPr>
          <a:xfrm>
            <a:off x="-146160" y="6521400"/>
            <a:ext cx="1553040" cy="105012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Picture 50" descr=""/>
          <p:cNvPicPr/>
          <p:nvPr/>
        </p:nvPicPr>
        <p:blipFill>
          <a:blip r:embed="rId5"/>
          <a:stretch/>
        </p:blipFill>
        <p:spPr>
          <a:xfrm>
            <a:off x="8458200" y="228960"/>
            <a:ext cx="3426120" cy="134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" name="Graphic 51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457560" y="228960"/>
            <a:ext cx="4115880" cy="108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4618800" y="2144160"/>
            <a:ext cx="1913400" cy="33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 Cytometry 101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" name="Picture 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"/>
          <p:cNvSpPr/>
          <p:nvPr/>
        </p:nvSpPr>
        <p:spPr>
          <a:xfrm>
            <a:off x="4608000" y="4442760"/>
            <a:ext cx="1828800" cy="33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"/>
          <p:cNvSpPr/>
          <p:nvPr/>
        </p:nvSpPr>
        <p:spPr>
          <a:xfrm>
            <a:off x="5173200" y="3634200"/>
            <a:ext cx="685800" cy="685800"/>
          </a:xfrm>
          <a:prstGeom prst="diamond">
            <a:avLst/>
          </a:prstGeom>
          <a:solidFill>
            <a:srgbClr val="6b5e9b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3357000" y="2921040"/>
            <a:ext cx="457200" cy="457200"/>
          </a:xfrm>
          <a:prstGeom prst="ellipse">
            <a:avLst/>
          </a:prstGeom>
          <a:solidFill>
            <a:srgbClr val="a1467e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Rectangle 30"/>
          <p:cNvSpPr/>
          <p:nvPr/>
        </p:nvSpPr>
        <p:spPr>
          <a:xfrm>
            <a:off x="4246200" y="4357080"/>
            <a:ext cx="27432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 B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3200400" y="2514600"/>
            <a:ext cx="806400" cy="33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" name="Rectangle 32"/>
          <p:cNvSpPr/>
          <p:nvPr/>
        </p:nvSpPr>
        <p:spPr>
          <a:xfrm>
            <a:off x="0" y="1372680"/>
            <a:ext cx="2057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ectangle 37"/>
          <p:cNvSpPr/>
          <p:nvPr/>
        </p:nvSpPr>
        <p:spPr>
          <a:xfrm>
            <a:off x="2863800" y="2431080"/>
            <a:ext cx="2057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Laser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4006800" y="3342240"/>
            <a:ext cx="793800" cy="543960"/>
          </a:xfrm>
          <a:prstGeom prst="line">
            <a:avLst/>
          </a:prstGeom>
          <a:ln w="36720">
            <a:solidFill>
              <a:srgbClr val="ffd4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 flipV="1">
            <a:off x="4114800" y="1828800"/>
            <a:ext cx="685800" cy="457200"/>
          </a:xfrm>
          <a:prstGeom prst="line">
            <a:avLst/>
          </a:prstGeom>
          <a:ln w="36720">
            <a:solidFill>
              <a:srgbClr val="ffd4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5209200" y="1371600"/>
            <a:ext cx="685800" cy="685800"/>
          </a:xfrm>
          <a:prstGeom prst="diamond">
            <a:avLst/>
          </a:prstGeom>
          <a:solidFill>
            <a:srgbClr val="ff972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12"/>
          <p:cNvSpPr/>
          <p:nvPr/>
        </p:nvSpPr>
        <p:spPr>
          <a:xfrm>
            <a:off x="4330800" y="2058480"/>
            <a:ext cx="2514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 A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 flipV="1">
            <a:off x="6087600" y="3742200"/>
            <a:ext cx="1143000" cy="2286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6316200" y="1756800"/>
            <a:ext cx="999000" cy="529200"/>
          </a:xfrm>
          <a:prstGeom prst="line">
            <a:avLst/>
          </a:prstGeom>
          <a:ln w="36720">
            <a:solidFill>
              <a:srgbClr val="c9211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 descr=""/>
          <p:cNvPicPr/>
          <p:nvPr/>
        </p:nvPicPr>
        <p:blipFill>
          <a:blip r:embed="rId2"/>
          <a:stretch/>
        </p:blipFill>
        <p:spPr>
          <a:xfrm>
            <a:off x="7494840" y="1624680"/>
            <a:ext cx="4392360" cy="271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" name="" descr=""/>
          <p:cNvPicPr/>
          <p:nvPr/>
        </p:nvPicPr>
        <p:blipFill>
          <a:blip r:embed="rId3"/>
          <a:stretch/>
        </p:blipFill>
        <p:spPr>
          <a:xfrm>
            <a:off x="228600" y="1600200"/>
            <a:ext cx="2844000" cy="274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"/>
          <p:cNvSpPr/>
          <p:nvPr/>
        </p:nvSpPr>
        <p:spPr>
          <a:xfrm>
            <a:off x="1371600" y="5257800"/>
            <a:ext cx="9372600" cy="6858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" name="Rectangle 45"/>
          <p:cNvSpPr/>
          <p:nvPr/>
        </p:nvSpPr>
        <p:spPr>
          <a:xfrm>
            <a:off x="1371600" y="5342400"/>
            <a:ext cx="89442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Shin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 a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laser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 a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opho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re, it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emits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back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light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 a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disti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nct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patte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 Cytometry 101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Picture 2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"/>
          <p:cNvSpPr/>
          <p:nvPr/>
        </p:nvSpPr>
        <p:spPr>
          <a:xfrm>
            <a:off x="5252760" y="3972960"/>
            <a:ext cx="649800" cy="33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" name=""/>
          <p:cNvSpPr/>
          <p:nvPr/>
        </p:nvSpPr>
        <p:spPr>
          <a:xfrm>
            <a:off x="3737160" y="2692440"/>
            <a:ext cx="457200" cy="457200"/>
          </a:xfrm>
          <a:prstGeom prst="ellipse">
            <a:avLst/>
          </a:prstGeom>
          <a:solidFill>
            <a:srgbClr val="a1467e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42"/>
          <p:cNvSpPr/>
          <p:nvPr/>
        </p:nvSpPr>
        <p:spPr>
          <a:xfrm>
            <a:off x="4952160" y="3887280"/>
            <a:ext cx="27432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3580560" y="2286000"/>
            <a:ext cx="806400" cy="33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" name="Rectangle 43"/>
          <p:cNvSpPr/>
          <p:nvPr/>
        </p:nvSpPr>
        <p:spPr>
          <a:xfrm>
            <a:off x="0" y="1372680"/>
            <a:ext cx="2057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44"/>
          <p:cNvSpPr/>
          <p:nvPr/>
        </p:nvSpPr>
        <p:spPr>
          <a:xfrm>
            <a:off x="3243960" y="2202480"/>
            <a:ext cx="2057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Laser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4266360" y="2971800"/>
            <a:ext cx="793800" cy="315360"/>
          </a:xfrm>
          <a:prstGeom prst="line">
            <a:avLst/>
          </a:prstGeom>
          <a:ln w="36720">
            <a:solidFill>
              <a:srgbClr val="ffd4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" descr=""/>
          <p:cNvPicPr/>
          <p:nvPr/>
        </p:nvPicPr>
        <p:blipFill>
          <a:blip r:embed="rId2"/>
          <a:stretch/>
        </p:blipFill>
        <p:spPr>
          <a:xfrm>
            <a:off x="608760" y="1371600"/>
            <a:ext cx="2844000" cy="274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/>
          <p:nvPr/>
        </p:nvSpPr>
        <p:spPr>
          <a:xfrm>
            <a:off x="5180760" y="2971800"/>
            <a:ext cx="914400" cy="914400"/>
          </a:xfrm>
          <a:prstGeom prst="ellipse">
            <a:avLst/>
          </a:prstGeom>
          <a:solidFill>
            <a:srgbClr val="ffdbb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4982400" y="1915560"/>
            <a:ext cx="1479600" cy="9000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"/>
          <p:cNvSpPr/>
          <p:nvPr/>
        </p:nvSpPr>
        <p:spPr>
          <a:xfrm>
            <a:off x="5342400" y="1143000"/>
            <a:ext cx="685800" cy="685800"/>
          </a:xfrm>
          <a:prstGeom prst="diamond">
            <a:avLst/>
          </a:prstGeom>
          <a:solidFill>
            <a:srgbClr val="ff972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4723560" y="1879560"/>
            <a:ext cx="1967040" cy="93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Fluorophore-conjugated Antibodies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1828800" y="4800600"/>
            <a:ext cx="8229600" cy="16002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" name="Rectangle 46"/>
          <p:cNvSpPr/>
          <p:nvPr/>
        </p:nvSpPr>
        <p:spPr>
          <a:xfrm>
            <a:off x="1818000" y="4776480"/>
            <a:ext cx="89262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are conjugated to monoclonal antibodies.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fluorophore-antibody mix is added to cells in suspension, antibodies bind to cells that express their antigen.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 Cytometry 101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Picture 2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"/>
          <p:cNvSpPr/>
          <p:nvPr/>
        </p:nvSpPr>
        <p:spPr>
          <a:xfrm>
            <a:off x="5252760" y="3972960"/>
            <a:ext cx="649800" cy="33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8" name=""/>
          <p:cNvSpPr/>
          <p:nvPr/>
        </p:nvSpPr>
        <p:spPr>
          <a:xfrm>
            <a:off x="3737160" y="2692440"/>
            <a:ext cx="457200" cy="457200"/>
          </a:xfrm>
          <a:prstGeom prst="ellipse">
            <a:avLst/>
          </a:prstGeom>
          <a:solidFill>
            <a:srgbClr val="a1467e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ectangle 47"/>
          <p:cNvSpPr/>
          <p:nvPr/>
        </p:nvSpPr>
        <p:spPr>
          <a:xfrm>
            <a:off x="4952160" y="3887280"/>
            <a:ext cx="27432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3580560" y="2286000"/>
            <a:ext cx="806400" cy="33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Rectangle 48"/>
          <p:cNvSpPr/>
          <p:nvPr/>
        </p:nvSpPr>
        <p:spPr>
          <a:xfrm>
            <a:off x="0" y="1372680"/>
            <a:ext cx="2057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49"/>
          <p:cNvSpPr/>
          <p:nvPr/>
        </p:nvSpPr>
        <p:spPr>
          <a:xfrm>
            <a:off x="3243960" y="2202480"/>
            <a:ext cx="2057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Laser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4266360" y="2971800"/>
            <a:ext cx="793800" cy="315360"/>
          </a:xfrm>
          <a:prstGeom prst="line">
            <a:avLst/>
          </a:prstGeom>
          <a:ln w="36720">
            <a:solidFill>
              <a:srgbClr val="ffd4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 flipV="1">
            <a:off x="6287760" y="3200400"/>
            <a:ext cx="1143000" cy="22860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" descr=""/>
          <p:cNvPicPr/>
          <p:nvPr/>
        </p:nvPicPr>
        <p:blipFill>
          <a:blip r:embed="rId2"/>
          <a:stretch/>
        </p:blipFill>
        <p:spPr>
          <a:xfrm>
            <a:off x="608760" y="1371600"/>
            <a:ext cx="2844000" cy="274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5180760" y="2971800"/>
            <a:ext cx="914400" cy="914400"/>
          </a:xfrm>
          <a:prstGeom prst="ellipse">
            <a:avLst/>
          </a:prstGeom>
          <a:solidFill>
            <a:srgbClr val="ffdbb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982400" y="1915560"/>
            <a:ext cx="1479600" cy="9000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8" name=""/>
          <p:cNvSpPr/>
          <p:nvPr/>
        </p:nvSpPr>
        <p:spPr>
          <a:xfrm>
            <a:off x="5342400" y="1143000"/>
            <a:ext cx="685800" cy="685800"/>
          </a:xfrm>
          <a:prstGeom prst="diamond">
            <a:avLst/>
          </a:prstGeom>
          <a:solidFill>
            <a:srgbClr val="ff972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23560" y="1879560"/>
            <a:ext cx="1967040" cy="93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Fluorophore-conjugated Antibodies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" descr=""/>
          <p:cNvPicPr/>
          <p:nvPr/>
        </p:nvPicPr>
        <p:blipFill>
          <a:blip r:embed="rId3"/>
          <a:stretch/>
        </p:blipFill>
        <p:spPr>
          <a:xfrm>
            <a:off x="7467840" y="1143000"/>
            <a:ext cx="3962160" cy="356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"/>
          <p:cNvSpPr/>
          <p:nvPr/>
        </p:nvSpPr>
        <p:spPr>
          <a:xfrm>
            <a:off x="1733400" y="4800600"/>
            <a:ext cx="9010800" cy="11430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2" name="Rectangle 50"/>
          <p:cNvSpPr/>
          <p:nvPr/>
        </p:nvSpPr>
        <p:spPr>
          <a:xfrm>
            <a:off x="1828800" y="4572000"/>
            <a:ext cx="892620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Shine a laser on these now stained cells, the fluorophores-conjugated to the antibodies light up, and we can infer marker expression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algn="ctr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6172200" y="2286000"/>
            <a:ext cx="4800600" cy="25146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 Cytometry and Bioconductor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57"/>
          <p:cNvSpPr/>
          <p:nvPr/>
        </p:nvSpPr>
        <p:spPr>
          <a:xfrm>
            <a:off x="6228000" y="2514600"/>
            <a:ext cx="474480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FlowCore is the oldest extant package (Bioc 2.0, 2007)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72 packages list Flow Cytometry in their biocViews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Picture 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" descr=""/>
          <p:cNvPicPr/>
          <p:nvPr/>
        </p:nvPicPr>
        <p:blipFill>
          <a:blip r:embed="rId2"/>
          <a:srcRect l="0" t="-1912" r="0" b="0"/>
          <a:stretch/>
        </p:blipFill>
        <p:spPr>
          <a:xfrm>
            <a:off x="685800" y="685800"/>
            <a:ext cx="5028480" cy="571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>
            <a:off x="7086600" y="1922040"/>
            <a:ext cx="4572000" cy="26499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Flow Cytometry and Bioconductor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5"/>
          <p:cNvSpPr/>
          <p:nvPr/>
        </p:nvSpPr>
        <p:spPr>
          <a:xfrm>
            <a:off x="7086600" y="1922040"/>
            <a:ext cx="4800240" cy="264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are severely under-utilized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7 packages with &gt; 10,000 yearly downloads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15 packages with &gt; 4000 yearly downloads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" descr=""/>
          <p:cNvPicPr/>
          <p:nvPr/>
        </p:nvPicPr>
        <p:blipFill>
          <a:blip r:embed="rId2"/>
          <a:stretch/>
        </p:blipFill>
        <p:spPr>
          <a:xfrm>
            <a:off x="263880" y="1305000"/>
            <a:ext cx="6593760" cy="440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/>
          <p:nvPr/>
        </p:nvSpPr>
        <p:spPr>
          <a:xfrm>
            <a:off x="685800" y="1373400"/>
            <a:ext cx="5029200" cy="27414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88880" cy="867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Lack of wider community adoption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2"/>
          <p:cNvSpPr/>
          <p:nvPr/>
        </p:nvSpPr>
        <p:spPr>
          <a:xfrm>
            <a:off x="741600" y="1373400"/>
            <a:ext cx="4973040" cy="264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Vast majority of the community uses commercial software (ex. FlowJo, FCSExpress, etc.)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Manual hierarchical gates are drawn around cell populations of interest via graphical-user interface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Picture 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" descr=""/>
          <p:cNvPicPr/>
          <p:nvPr/>
        </p:nvPicPr>
        <p:blipFill>
          <a:blip r:embed="rId2"/>
          <a:stretch/>
        </p:blipFill>
        <p:spPr>
          <a:xfrm>
            <a:off x="6771600" y="914400"/>
            <a:ext cx="4886280" cy="504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Rectangle 6"/>
          <p:cNvSpPr/>
          <p:nvPr/>
        </p:nvSpPr>
        <p:spPr>
          <a:xfrm>
            <a:off x="741600" y="4436640"/>
            <a:ext cx="497304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228600" y="1371600"/>
            <a:ext cx="4572000" cy="38862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ectangle 3"/>
          <p:cNvSpPr/>
          <p:nvPr/>
        </p:nvSpPr>
        <p:spPr>
          <a:xfrm>
            <a:off x="228600" y="1509840"/>
            <a:ext cx="460080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Popularized by the Cytek Aurora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Able to resolve incredibly similar fluorophores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Largest panels &gt;60 fluorophores, matching mass cytometry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Retains speed of acquisition of conventional flow cytometry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Picture 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" descr=""/>
          <p:cNvPicPr/>
          <p:nvPr/>
        </p:nvPicPr>
        <p:blipFill>
          <a:blip r:embed="rId2"/>
          <a:stretch/>
        </p:blipFill>
        <p:spPr>
          <a:xfrm>
            <a:off x="4865040" y="1140120"/>
            <a:ext cx="7021440" cy="4345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Datasets, Combinatorially Exponential Clusters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Picture 30" descr=""/>
          <p:cNvPicPr/>
          <p:nvPr/>
        </p:nvPicPr>
        <p:blipFill>
          <a:blip r:embed="rId1"/>
          <a:stretch/>
        </p:blipFill>
        <p:spPr>
          <a:xfrm>
            <a:off x="6629400" y="960840"/>
            <a:ext cx="5025600" cy="447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Rectangle 38"/>
          <p:cNvSpPr/>
          <p:nvPr/>
        </p:nvSpPr>
        <p:spPr>
          <a:xfrm>
            <a:off x="446040" y="1139400"/>
            <a:ext cx="5497560" cy="857880"/>
          </a:xfrm>
          <a:prstGeom prst="rect">
            <a:avLst/>
          </a:prstGeom>
          <a:noFill/>
          <a:ln w="3672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 anchorCtr="1">
            <a:spAutoFit/>
          </a:bodyPr>
          <a:p>
            <a:pPr algn="ctr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Manual Gating no longer is sufficient to thoroughly profile individual specimens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39"/>
          <p:cNvSpPr/>
          <p:nvPr/>
        </p:nvSpPr>
        <p:spPr>
          <a:xfrm>
            <a:off x="393120" y="3429000"/>
            <a:ext cx="5971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9-color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CFC panel: 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512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at most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ectangle 40"/>
          <p:cNvSpPr/>
          <p:nvPr/>
        </p:nvSpPr>
        <p:spPr>
          <a:xfrm>
            <a:off x="403200" y="3536640"/>
            <a:ext cx="7826400" cy="12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575"/>
              </a:lnSpc>
              <a:spcBef>
                <a:spcPts val="1474"/>
              </a:spcBef>
              <a:spcAft>
                <a:spcPts val="127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panel: 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clusters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  <a:p>
            <a:pPr marL="216000" indent="-216000" defTabSz="914400">
              <a:lnSpc>
                <a:spcPts val="575"/>
              </a:lnSpc>
              <a:spcBef>
                <a:spcPts val="1474"/>
              </a:spcBef>
              <a:spcAft>
                <a:spcPts val="1276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at most (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  <a:ea typeface="Noto Sans CJK SC"/>
            </a:endParaRPr>
          </a:p>
        </p:txBody>
      </p:sp>
      <p:pic>
        <p:nvPicPr>
          <p:cNvPr id="139" name="Picture 3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Rectangle 1"/>
          <p:cNvSpPr/>
          <p:nvPr/>
        </p:nvSpPr>
        <p:spPr>
          <a:xfrm>
            <a:off x="393120" y="2140920"/>
            <a:ext cx="597132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every marker split positive and negative; splits repeated for every marker: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Potential groupings: 2</a:t>
            </a:r>
            <a:r>
              <a:rPr b="0" lang="en-US" sz="2400" strike="noStrike" u="none" baseline="3300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NumberOfFluorophores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41"/>
          <p:cNvSpPr/>
          <p:nvPr/>
        </p:nvSpPr>
        <p:spPr>
          <a:xfrm>
            <a:off x="289440" y="5029200"/>
            <a:ext cx="5497560" cy="1589400"/>
          </a:xfrm>
          <a:prstGeom prst="rect">
            <a:avLst/>
          </a:prstGeom>
          <a:noFill/>
          <a:ln w="3672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 anchorCtr="1">
            <a:spAutoFit/>
          </a:bodyPr>
          <a:p>
            <a:pPr algn="ctr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Increasing use of semi-supervised and unsupervised algorithms for analysis, many already implemented as Bioconductor packages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Major barrier to entry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Picture 1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4" name=""/>
          <p:cNvGrpSpPr/>
          <p:nvPr/>
        </p:nvGrpSpPr>
        <p:grpSpPr>
          <a:xfrm>
            <a:off x="4800600" y="1371600"/>
            <a:ext cx="6729840" cy="4343040"/>
            <a:chOff x="4800600" y="1371600"/>
            <a:chExt cx="6729840" cy="4343040"/>
          </a:xfrm>
        </p:grpSpPr>
        <p:pic>
          <p:nvPicPr>
            <p:cNvPr id="145" name="" descr=""/>
            <p:cNvPicPr/>
            <p:nvPr/>
          </p:nvPicPr>
          <p:blipFill>
            <a:blip r:embed="rId2"/>
            <a:stretch/>
          </p:blipFill>
          <p:spPr>
            <a:xfrm>
              <a:off x="4800600" y="1371600"/>
              <a:ext cx="6729840" cy="43430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6" name="" descr=""/>
            <p:cNvPicPr/>
            <p:nvPr/>
          </p:nvPicPr>
          <p:blipFill>
            <a:blip r:embed="rId3"/>
            <a:stretch/>
          </p:blipFill>
          <p:spPr>
            <a:xfrm>
              <a:off x="8342280" y="1600200"/>
              <a:ext cx="2522160" cy="25747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47" name=""/>
          <p:cNvSpPr/>
          <p:nvPr/>
        </p:nvSpPr>
        <p:spPr>
          <a:xfrm>
            <a:off x="228600" y="1371600"/>
            <a:ext cx="4463640" cy="41486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8" name="Rectangle 10"/>
          <p:cNvSpPr/>
          <p:nvPr/>
        </p:nvSpPr>
        <p:spPr>
          <a:xfrm>
            <a:off x="199440" y="1407600"/>
            <a:ext cx="4600800" cy="411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 resources to begin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Those that exist aimed at those with intermediate-advanced R skills, not beginners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Know-how concentrated at a few institutions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self-learning attempts end in frustration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>
            <a:off x="7374600" y="1564200"/>
            <a:ext cx="4355640" cy="32364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</a:t>
            </a:r>
            <a:br>
              <a:rPr sz="3200"/>
            </a:b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 no-to-little coding experience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9"/>
          <p:cNvSpPr/>
          <p:nvPr/>
        </p:nvSpPr>
        <p:spPr>
          <a:xfrm>
            <a:off x="7406640" y="1600200"/>
            <a:ext cx="4600800" cy="30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Announced in November 2025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Woke up to find it went viral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2000 researchers worldwide signed up for email updates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Had to update planned format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Picture 1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3" name="" descr=""/>
          <p:cNvPicPr/>
          <p:nvPr/>
        </p:nvPicPr>
        <p:blipFill>
          <a:blip r:embed="rId2"/>
          <a:stretch/>
        </p:blipFill>
        <p:spPr>
          <a:xfrm>
            <a:off x="260640" y="1081800"/>
            <a:ext cx="6825240" cy="151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" descr=""/>
          <p:cNvPicPr/>
          <p:nvPr/>
        </p:nvPicPr>
        <p:blipFill>
          <a:blip r:embed="rId3"/>
          <a:stretch/>
        </p:blipFill>
        <p:spPr>
          <a:xfrm>
            <a:off x="243720" y="2774160"/>
            <a:ext cx="6842160" cy="4021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>
            <a:off x="2214000" y="4264920"/>
            <a:ext cx="7808040" cy="23641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Overall structure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11"/>
          <p:cNvSpPr/>
          <p:nvPr/>
        </p:nvSpPr>
        <p:spPr>
          <a:xfrm>
            <a:off x="2286000" y="4343400"/>
            <a:ext cx="7772040" cy="213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ts val="2449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30-week course, starting from Intro to R, gradually moving to more advanced content.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71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ts val="1871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Multiple ways to learn with flexible scheduling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71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ts val="1871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Taught in Positron instead of Rstudio (ask me why!)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71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ts val="1871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Version Control/Git introduced from the beginning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Picture 1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9" name="" descr=""/>
          <p:cNvPicPr/>
          <p:nvPr/>
        </p:nvPicPr>
        <p:blipFill>
          <a:blip r:embed="rId2"/>
          <a:stretch/>
        </p:blipFill>
        <p:spPr>
          <a:xfrm>
            <a:off x="-3600" y="745200"/>
            <a:ext cx="12191040" cy="3447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>
            <a:off x="6629400" y="1467000"/>
            <a:ext cx="4343400" cy="37908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1"/>
          <a:stretch/>
        </p:blipFill>
        <p:spPr>
          <a:xfrm>
            <a:off x="228600" y="868320"/>
            <a:ext cx="5714640" cy="553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13"/>
          <p:cNvSpPr/>
          <p:nvPr/>
        </p:nvSpPr>
        <p:spPr>
          <a:xfrm>
            <a:off x="6665400" y="1467000"/>
            <a:ext cx="460080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Three live-streams a week (accommodating different timezones and schedules)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Recordings available immediately after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Best of the weekly livestreams added to the playlist, cutting down on editing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4" name="Picture 1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"/>
          <p:cNvSpPr/>
          <p:nvPr/>
        </p:nvSpPr>
        <p:spPr>
          <a:xfrm>
            <a:off x="252000" y="1238040"/>
            <a:ext cx="4656240" cy="42480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15"/>
          <p:cNvSpPr/>
          <p:nvPr/>
        </p:nvSpPr>
        <p:spPr>
          <a:xfrm>
            <a:off x="307440" y="1443600"/>
            <a:ext cx="460080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Created with Quarto, hosted via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pages.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Code, code outputs, screenshots and explanations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Searchable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New weekly material added as a new .qmd file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Picture 14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9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403240" cy="4423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>
            <a:off x="6773760" y="914400"/>
            <a:ext cx="4656240" cy="48006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17"/>
          <p:cNvSpPr/>
          <p:nvPr/>
        </p:nvSpPr>
        <p:spPr>
          <a:xfrm>
            <a:off x="6828480" y="1048680"/>
            <a:ext cx="460080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 and datasets available via the GitHub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Course participants start course by creating GitHub account and forking the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After Positron is linked to GitHub account, pull locally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new material posted each week, sync and pull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Picture 1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46560" cy="4815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>
            <a:off x="685800" y="2561400"/>
            <a:ext cx="4656240" cy="13716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19"/>
          <p:cNvSpPr/>
          <p:nvPr/>
        </p:nvSpPr>
        <p:spPr>
          <a:xfrm>
            <a:off x="717480" y="2561400"/>
            <a:ext cx="460080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Discussions page has been repurposed as a community forum for questions, etc.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Picture 1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9" name="" descr=""/>
          <p:cNvPicPr/>
          <p:nvPr/>
        </p:nvPicPr>
        <p:blipFill>
          <a:blip r:embed="rId2"/>
          <a:stretch/>
        </p:blipFill>
        <p:spPr>
          <a:xfrm>
            <a:off x="5591520" y="914400"/>
            <a:ext cx="5838480" cy="504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6629400" y="1778040"/>
            <a:ext cx="5342040" cy="33339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How has it been going?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ectangle 21"/>
          <p:cNvSpPr/>
          <p:nvPr/>
        </p:nvSpPr>
        <p:spPr>
          <a:xfrm>
            <a:off x="6793200" y="1838520"/>
            <a:ext cx="505800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Per Google, GitHub and YouTube analytics: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897 Subscribers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638 Forks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200-350 average weekly participants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Spread out at own pace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22"/>
          <p:cNvSpPr/>
          <p:nvPr/>
        </p:nvSpPr>
        <p:spPr>
          <a:xfrm>
            <a:off x="7086600" y="4387320"/>
            <a:ext cx="49730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Picture 17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5" name="" descr=""/>
          <p:cNvPicPr/>
          <p:nvPr/>
        </p:nvPicPr>
        <p:blipFill>
          <a:blip r:embed="rId2"/>
          <a:stretch/>
        </p:blipFill>
        <p:spPr>
          <a:xfrm>
            <a:off x="906840" y="1394280"/>
            <a:ext cx="5108760" cy="138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6" name="" descr=""/>
          <p:cNvPicPr/>
          <p:nvPr/>
        </p:nvPicPr>
        <p:blipFill>
          <a:blip r:embed="rId3"/>
          <a:stretch/>
        </p:blipFill>
        <p:spPr>
          <a:xfrm>
            <a:off x="839520" y="3285000"/>
            <a:ext cx="5332680" cy="2221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"/>
          <p:cNvSpPr/>
          <p:nvPr/>
        </p:nvSpPr>
        <p:spPr>
          <a:xfrm>
            <a:off x="7270560" y="1635840"/>
            <a:ext cx="4114440" cy="37188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Community Feedback Surveys: What has worked well?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23"/>
          <p:cNvSpPr/>
          <p:nvPr/>
        </p:nvSpPr>
        <p:spPr>
          <a:xfrm>
            <a:off x="6327720" y="1506960"/>
            <a:ext cx="4600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ectangle 24"/>
          <p:cNvSpPr/>
          <p:nvPr/>
        </p:nvSpPr>
        <p:spPr>
          <a:xfrm>
            <a:off x="6296040" y="3502800"/>
            <a:ext cx="49730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Picture 1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" descr=""/>
          <p:cNvPicPr/>
          <p:nvPr/>
        </p:nvPicPr>
        <p:blipFill>
          <a:blip r:embed="rId2"/>
          <a:stretch/>
        </p:blipFill>
        <p:spPr>
          <a:xfrm>
            <a:off x="228600" y="1047960"/>
            <a:ext cx="6857640" cy="48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Rectangle 8"/>
          <p:cNvSpPr/>
          <p:nvPr/>
        </p:nvSpPr>
        <p:spPr>
          <a:xfrm>
            <a:off x="7286040" y="1697400"/>
            <a:ext cx="4600800" cy="33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Flexible schedule,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multiple formats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Detailed explanations from a cytometry perspective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Strangely… Positron and Git?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Free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228600" y="1238040"/>
            <a:ext cx="4679640" cy="42480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228600" y="49320"/>
            <a:ext cx="12188880" cy="10933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Community Feedback Surveys: What can be improved on?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ectangle 25"/>
          <p:cNvSpPr/>
          <p:nvPr/>
        </p:nvSpPr>
        <p:spPr>
          <a:xfrm>
            <a:off x="176400" y="1375200"/>
            <a:ext cx="46008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 hindsight: Probably shouldn’t have started this project at the same time as writing my thesis.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26"/>
          <p:cNvSpPr/>
          <p:nvPr/>
        </p:nvSpPr>
        <p:spPr>
          <a:xfrm>
            <a:off x="180000" y="2971800"/>
            <a:ext cx="49730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Case-in-point: Feedback on the Optional Take-Home Problems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Picture 1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99" name=""/>
          <p:cNvGrpSpPr/>
          <p:nvPr/>
        </p:nvGrpSpPr>
        <p:grpSpPr>
          <a:xfrm>
            <a:off x="5029200" y="1148760"/>
            <a:ext cx="6857280" cy="4409280"/>
            <a:chOff x="5029200" y="1148760"/>
            <a:chExt cx="6857280" cy="4409280"/>
          </a:xfrm>
        </p:grpSpPr>
        <p:pic>
          <p:nvPicPr>
            <p:cNvPr id="200" name="" descr=""/>
            <p:cNvPicPr/>
            <p:nvPr/>
          </p:nvPicPr>
          <p:blipFill>
            <a:blip r:embed="rId2"/>
            <a:stretch/>
          </p:blipFill>
          <p:spPr>
            <a:xfrm>
              <a:off x="5029200" y="1148760"/>
              <a:ext cx="2232720" cy="43747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1" name="" descr=""/>
            <p:cNvPicPr/>
            <p:nvPr/>
          </p:nvPicPr>
          <p:blipFill>
            <a:blip r:embed="rId3"/>
            <a:stretch/>
          </p:blipFill>
          <p:spPr>
            <a:xfrm>
              <a:off x="7324920" y="1209600"/>
              <a:ext cx="4561560" cy="43484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02" name="Rectangle 7"/>
          <p:cNvSpPr/>
          <p:nvPr/>
        </p:nvSpPr>
        <p:spPr>
          <a:xfrm>
            <a:off x="176400" y="3886200"/>
            <a:ext cx="49730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Despite planning for it, still vastly underestimated the number of potential installation issues on Windows vs. individual IT policies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"/>
          <p:cNvSpPr/>
          <p:nvPr/>
        </p:nvSpPr>
        <p:spPr>
          <a:xfrm>
            <a:off x="2569320" y="4523400"/>
            <a:ext cx="6629040" cy="1599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Where to next?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28"/>
          <p:cNvSpPr/>
          <p:nvPr/>
        </p:nvSpPr>
        <p:spPr>
          <a:xfrm>
            <a:off x="2714400" y="4672080"/>
            <a:ext cx="70304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Wrapping up Cytometry Core module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Starting on Unsupervised Analysis section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Picture 2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7" name="" descr=""/>
          <p:cNvPicPr/>
          <p:nvPr/>
        </p:nvPicPr>
        <p:blipFill>
          <a:blip r:embed="rId2"/>
          <a:stretch/>
        </p:blipFill>
        <p:spPr>
          <a:xfrm>
            <a:off x="0" y="895320"/>
            <a:ext cx="12191040" cy="3447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/>
          <p:nvPr/>
        </p:nvSpPr>
        <p:spPr>
          <a:xfrm>
            <a:off x="5185800" y="1407600"/>
            <a:ext cx="6485040" cy="4114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888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 rising tide floats all boats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29"/>
          <p:cNvSpPr/>
          <p:nvPr/>
        </p:nvSpPr>
        <p:spPr>
          <a:xfrm>
            <a:off x="5257800" y="1509840"/>
            <a:ext cx="662904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72 Bioconductor cytometry packages (+ 20? GitHub based packages)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Only subset will have been covered during the planned 30 week course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One-off community walk-throughs?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Hopefully those just getting started contribute to projects of interest in their own right in time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Picture 2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2" name="" descr=""/>
          <p:cNvPicPr/>
          <p:nvPr/>
        </p:nvPicPr>
        <p:blipFill>
          <a:blip r:embed="rId2"/>
          <a:stretch/>
        </p:blipFill>
        <p:spPr>
          <a:xfrm>
            <a:off x="659880" y="909000"/>
            <a:ext cx="3911760" cy="4916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457200" y="5715000"/>
            <a:ext cx="1828440" cy="456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4" name=""/>
          <p:cNvSpPr/>
          <p:nvPr/>
        </p:nvSpPr>
        <p:spPr>
          <a:xfrm>
            <a:off x="10395000" y="3729600"/>
            <a:ext cx="1371240" cy="685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5" name=""/>
          <p:cNvSpPr/>
          <p:nvPr/>
        </p:nvSpPr>
        <p:spPr>
          <a:xfrm>
            <a:off x="8458200" y="3693600"/>
            <a:ext cx="1371240" cy="6854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6" name=""/>
          <p:cNvSpPr/>
          <p:nvPr/>
        </p:nvSpPr>
        <p:spPr>
          <a:xfrm>
            <a:off x="3886200" y="4800600"/>
            <a:ext cx="4343040" cy="13712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7" name=""/>
          <p:cNvSpPr/>
          <p:nvPr/>
        </p:nvSpPr>
        <p:spPr>
          <a:xfrm>
            <a:off x="457200" y="4803840"/>
            <a:ext cx="2057040" cy="6822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8" name=""/>
          <p:cNvSpPr/>
          <p:nvPr/>
        </p:nvSpPr>
        <p:spPr>
          <a:xfrm>
            <a:off x="457200" y="3657600"/>
            <a:ext cx="3428640" cy="914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9" name=""/>
          <p:cNvSpPr/>
          <p:nvPr/>
        </p:nvSpPr>
        <p:spPr>
          <a:xfrm>
            <a:off x="457200" y="1828800"/>
            <a:ext cx="3428640" cy="1599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840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Acknowledgements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Rectangle 31"/>
          <p:cNvSpPr/>
          <p:nvPr/>
        </p:nvSpPr>
        <p:spPr>
          <a:xfrm>
            <a:off x="3886200" y="4800600"/>
            <a:ext cx="4296600" cy="13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2" name="Picture 22" descr=""/>
          <p:cNvPicPr/>
          <p:nvPr/>
        </p:nvPicPr>
        <p:blipFill>
          <a:blip r:embed="rId1"/>
          <a:stretch/>
        </p:blipFill>
        <p:spPr>
          <a:xfrm>
            <a:off x="9290520" y="5257800"/>
            <a:ext cx="2367720" cy="426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3" name="Picture 23" descr=""/>
          <p:cNvPicPr/>
          <p:nvPr/>
        </p:nvPicPr>
        <p:blipFill>
          <a:blip r:embed="rId2"/>
          <a:stretch/>
        </p:blipFill>
        <p:spPr>
          <a:xfrm>
            <a:off x="9673200" y="5684400"/>
            <a:ext cx="1986480" cy="40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4" name="Picture 24" descr=""/>
          <p:cNvPicPr/>
          <p:nvPr/>
        </p:nvPicPr>
        <p:blipFill>
          <a:blip r:embed="rId3"/>
          <a:stretch/>
        </p:blipFill>
        <p:spPr>
          <a:xfrm>
            <a:off x="104698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25" name=""/>
          <p:cNvGrpSpPr/>
          <p:nvPr/>
        </p:nvGrpSpPr>
        <p:grpSpPr>
          <a:xfrm>
            <a:off x="366840" y="1832040"/>
            <a:ext cx="3976200" cy="4797000"/>
            <a:chOff x="366840" y="1832040"/>
            <a:chExt cx="3976200" cy="4797000"/>
          </a:xfrm>
        </p:grpSpPr>
        <p:sp>
          <p:nvSpPr>
            <p:cNvPr id="226" name="Content Placeholder 1"/>
            <p:cNvSpPr/>
            <p:nvPr/>
          </p:nvSpPr>
          <p:spPr>
            <a:xfrm>
              <a:off x="366840" y="4803840"/>
              <a:ext cx="3976200" cy="1825200"/>
            </a:xfrm>
            <a:prstGeom prst="rect">
              <a:avLst/>
            </a:prstGeom>
            <a:noFill/>
            <a:ln w="190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marL="108000" defTabSz="914400">
                <a:lnSpc>
                  <a:spcPct val="100000"/>
                </a:lnSpc>
                <a:spcBef>
                  <a:spcPts val="1417"/>
                </a:spcBef>
              </a:pPr>
              <a:r>
                <a:rPr b="0" lang="en-US" sz="18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Dr. Cristiana Cairo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r>
                <a:rPr b="0" lang="en-US" sz="18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Dr. Kirsten E. Lyke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algn="r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algn="r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algn="r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8000" defTabSz="914400">
                <a:lnSpc>
                  <a:spcPts val="720"/>
                </a:lnSpc>
                <a:spcBef>
                  <a:spcPts val="1417"/>
                </a:spcBef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7" name="TextBox 3"/>
            <p:cNvSpPr/>
            <p:nvPr/>
          </p:nvSpPr>
          <p:spPr>
            <a:xfrm>
              <a:off x="391320" y="3661920"/>
              <a:ext cx="3403800" cy="91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marL="108000" defTabSz="914400">
                <a:lnSpc>
                  <a:spcPct val="100000"/>
                </a:lnSpc>
                <a:spcBef>
                  <a:spcPts val="1417"/>
                </a:spcBef>
              </a:pPr>
              <a:r>
                <a:rPr b="0" lang="en-US" sz="18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All course participants, who have had occasionally had to witness us building the plane as we fly it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8" name="TextBox 1"/>
            <p:cNvSpPr/>
            <p:nvPr/>
          </p:nvSpPr>
          <p:spPr>
            <a:xfrm>
              <a:off x="391320" y="1832040"/>
              <a:ext cx="3403800" cy="1461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marL="108000" defTabSz="914400">
                <a:lnSpc>
                  <a:spcPct val="100000"/>
                </a:lnSpc>
                <a:spcBef>
                  <a:spcPts val="1417"/>
                </a:spcBef>
              </a:pPr>
              <a:r>
                <a:rPr b="0" lang="en-US" sz="18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All the open-source contributors, developers, and maintainers, that collectively made the tool sets without which this course would not be feasible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9" name="Content Placeholder 3"/>
          <p:cNvSpPr/>
          <p:nvPr/>
        </p:nvSpPr>
        <p:spPr>
          <a:xfrm>
            <a:off x="9829800" y="1486800"/>
            <a:ext cx="3976200" cy="18252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9"/>
          <p:cNvSpPr/>
          <p:nvPr/>
        </p:nvSpPr>
        <p:spPr>
          <a:xfrm>
            <a:off x="8001000" y="3926880"/>
            <a:ext cx="226080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10"/>
          <p:cNvSpPr/>
          <p:nvPr/>
        </p:nvSpPr>
        <p:spPr>
          <a:xfrm>
            <a:off x="10287000" y="3938760"/>
            <a:ext cx="1575000" cy="4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2" name="Picture 9" descr=""/>
          <p:cNvPicPr/>
          <p:nvPr/>
        </p:nvPicPr>
        <p:blipFill>
          <a:blip r:embed="rId4"/>
          <a:stretch/>
        </p:blipFill>
        <p:spPr>
          <a:xfrm>
            <a:off x="8686800" y="229320"/>
            <a:ext cx="3197520" cy="125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3" name="Graphic 2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227160" y="228600"/>
            <a:ext cx="3658680" cy="96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Rectangle 27"/>
          <p:cNvSpPr/>
          <p:nvPr/>
        </p:nvSpPr>
        <p:spPr>
          <a:xfrm>
            <a:off x="3886200" y="4800600"/>
            <a:ext cx="4296600" cy="13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Picture 6" descr=""/>
          <p:cNvPicPr/>
          <p:nvPr/>
        </p:nvPicPr>
        <p:blipFill>
          <a:blip r:embed="rId7"/>
          <a:stretch/>
        </p:blipFill>
        <p:spPr>
          <a:xfrm>
            <a:off x="4292640" y="1600200"/>
            <a:ext cx="3936600" cy="298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TextBox 4"/>
          <p:cNvSpPr/>
          <p:nvPr/>
        </p:nvSpPr>
        <p:spPr>
          <a:xfrm>
            <a:off x="204840" y="5943600"/>
            <a:ext cx="22608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7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350200" y="2080800"/>
            <a:ext cx="1599840" cy="1599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8" name="" descr="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10251000" y="2106000"/>
            <a:ext cx="1599840" cy="159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"/>
          <p:cNvSpPr/>
          <p:nvPr/>
        </p:nvSpPr>
        <p:spPr>
          <a:xfrm>
            <a:off x="2971800" y="1143000"/>
            <a:ext cx="4571640" cy="50320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4800" cy="13219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33"/>
          <p:cNvSpPr/>
          <p:nvPr/>
        </p:nvSpPr>
        <p:spPr>
          <a:xfrm>
            <a:off x="4346640" y="5579640"/>
            <a:ext cx="2968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ectangle 34"/>
          <p:cNvSpPr/>
          <p:nvPr/>
        </p:nvSpPr>
        <p:spPr>
          <a:xfrm>
            <a:off x="3200400" y="3080160"/>
            <a:ext cx="43398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Website: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https://github.com/UMGCCCFCSR/CytometryInR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Rectangle 35"/>
          <p:cNvSpPr/>
          <p:nvPr/>
        </p:nvSpPr>
        <p:spPr>
          <a:xfrm>
            <a:off x="8440920" y="3113640"/>
            <a:ext cx="2968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ectangle 36"/>
          <p:cNvSpPr/>
          <p:nvPr/>
        </p:nvSpPr>
        <p:spPr>
          <a:xfrm>
            <a:off x="8440920" y="5579640"/>
            <a:ext cx="2968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5" name="Picture 7" descr=""/>
          <p:cNvPicPr/>
          <p:nvPr/>
        </p:nvPicPr>
        <p:blipFill>
          <a:blip r:embed="rId1"/>
          <a:stretch/>
        </p:blipFill>
        <p:spPr>
          <a:xfrm>
            <a:off x="3378240" y="3900240"/>
            <a:ext cx="2107800" cy="159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6" name="Picture 25" descr=""/>
          <p:cNvPicPr/>
          <p:nvPr/>
        </p:nvPicPr>
        <p:blipFill>
          <a:blip r:embed="rId2"/>
          <a:stretch/>
        </p:blipFill>
        <p:spPr>
          <a:xfrm>
            <a:off x="7772400" y="3886200"/>
            <a:ext cx="1844280" cy="159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7" name="Picture 27" descr=""/>
          <p:cNvPicPr/>
          <p:nvPr/>
        </p:nvPicPr>
        <p:blipFill>
          <a:blip r:embed="rId3"/>
          <a:stretch/>
        </p:blipFill>
        <p:spPr>
          <a:xfrm>
            <a:off x="7772400" y="1392840"/>
            <a:ext cx="1843920" cy="159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8" name="Picture 29" descr=""/>
          <p:cNvPicPr/>
          <p:nvPr/>
        </p:nvPicPr>
        <p:blipFill>
          <a:blip r:embed="rId4"/>
          <a:stretch/>
        </p:blipFill>
        <p:spPr>
          <a:xfrm>
            <a:off x="3378240" y="1329480"/>
            <a:ext cx="2107800" cy="159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9" name="Graphic 7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704520" y="3750840"/>
            <a:ext cx="1825200" cy="1825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0" name="Graphic 8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489640" y="3750840"/>
            <a:ext cx="1825200" cy="1825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" name="Graphic 9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9704520" y="1248840"/>
            <a:ext cx="1825200" cy="1825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2" name="Graphic 12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5489640" y="1329480"/>
            <a:ext cx="1825200" cy="182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"/>
          <p:cNvSpPr/>
          <p:nvPr/>
        </p:nvSpPr>
        <p:spPr>
          <a:xfrm>
            <a:off x="228600" y="2971800"/>
            <a:ext cx="2285640" cy="11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Current Works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 Progress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578</TotalTime>
  <Application>LibreOffice/25.2.3.2$Linux_X86_64 LibreOffice_project/520$Build-2</Application>
  <AppVersion>15.0000</AppVersion>
  <Words>1146</Words>
  <Paragraphs>268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2026-08-09T21:23:00Z</dcterms:modified>
  <cp:revision>60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i4>3</vt:i4>
  </property>
  <property fmtid="{D5CDD505-2E9C-101B-9397-08002B2CF9AE}" pid="4" name="PresentationFormat">
    <vt:lpwstr>Widescreen</vt:lpwstr>
  </property>
  <property fmtid="{D5CDD505-2E9C-101B-9397-08002B2CF9AE}" pid="5" name="Slides">
    <vt:i4>39</vt:i4>
  </property>
  <property fmtid="{D5CDD505-2E9C-101B-9397-08002B2CF9AE}" pid="6" name="_dlc_DocIdItemGuid">
    <vt:lpwstr>4d3e5825-e8bc-4995-b9ad-4f8ee15e5c87</vt:lpwstr>
  </property>
</Properties>
</file>